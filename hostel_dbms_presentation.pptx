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6"/>
    <p:sldId id="261" r:id="rId7"/>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3A40"/>
        </a:solidFill>
      </p:bgPr>
    </p:bg>
    <p:spTree>
      <p:nvGrpSpPr>
        <p:cNvPr id="1" name=""/>
        <p:cNvGrpSpPr/>
        <p:nvPr/>
      </p:nvGrpSpPr>
      <p:grpSpPr>
        <a:xfrm>
          <a:off x="0" y="0"/>
          <a:ext cx="0" cy="0"/>
          <a:chOff x="0" y="0"/>
          <a:chExt cx="0" cy="0"/>
        </a:xfrm>
      </p:grpSpPr>
      <p:sp>
        <p:nvSpPr>
          <p:cNvPr id="2" name="Shape 0"/>
          <p:cNvSpPr/>
          <p:nvPr/>
        </p:nvSpPr>
        <p:spPr>
          <a:xfrm>
            <a:off x="9692640" y="-1371600"/>
            <a:ext cx="4572000" cy="4572000"/>
          </a:xfrm>
          <a:prstGeom prst="ellipse">
            <a:avLst/>
          </a:prstGeom>
          <a:solidFill>
            <a:srgbClr val="028090">
              <a:alpha val="40000"/>
            </a:srgbClr>
          </a:solidFill>
          <a:ln/>
        </p:spPr>
      </p:sp>
      <p:sp>
        <p:nvSpPr>
          <p:cNvPr id="3" name="Shape 1"/>
          <p:cNvSpPr/>
          <p:nvPr/>
        </p:nvSpPr>
        <p:spPr>
          <a:xfrm>
            <a:off x="10607040" y="3840480"/>
            <a:ext cx="2926080" cy="2926080"/>
          </a:xfrm>
          <a:prstGeom prst="ellipse">
            <a:avLst/>
          </a:prstGeom>
          <a:solidFill>
            <a:srgbClr val="02C39A">
              <a:alpha val="30000"/>
            </a:srgbClr>
          </a:solidFill>
          <a:ln/>
        </p:spPr>
      </p:sp>
      <p:sp>
        <p:nvSpPr>
          <p:cNvPr id="4" name="Text 2"/>
          <p:cNvSpPr txBox="1"/>
          <p:nvPr/>
        </p:nvSpPr>
        <p:spPr>
          <a:xfrm>
            <a:off x="731520" y="1371600"/>
            <a:ext cx="9144000" cy="36576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DBMS PROJECT  •  PRESENTATION 1 OF 3</a:t>
            </a:r>
            <a:endParaRPr lang="en-US" sz="1300" dirty="0"/>
          </a:p>
        </p:txBody>
      </p:sp>
      <p:sp>
        <p:nvSpPr>
          <p:cNvPr id="5" name="Text 3"/>
          <p:cNvSpPr txBox="1"/>
          <p:nvPr/>
        </p:nvSpPr>
        <p:spPr>
          <a:xfrm>
            <a:off x="731520" y="1828800"/>
            <a:ext cx="9875520" cy="2194560"/>
          </a:xfrm>
          <a:prstGeom prst="rect">
            <a:avLst/>
          </a:prstGeom>
          <a:noFill/>
          <a:ln/>
        </p:spPr>
        <p:txBody>
          <a:bodyPr wrap="square" lIns="0" tIns="0" rIns="0" bIns="0" rtlCol="0" anchor="ctr"/>
          <a:lstStyle/>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Design and Implementation of a Database Management System for Hostel Accommodation and Student Services</a:t>
            </a:r>
            <a:endParaRPr lang="en-US" sz="3800" dirty="0"/>
          </a:p>
        </p:txBody>
      </p:sp>
      <p:sp>
        <p:nvSpPr>
          <p:cNvPr id="6" name="Text 4"/>
          <p:cNvSpPr txBox="1"/>
          <p:nvPr/>
        </p:nvSpPr>
        <p:spPr>
          <a:xfrm>
            <a:off x="731520" y="4160520"/>
            <a:ext cx="8229600" cy="457200"/>
          </a:xfrm>
          <a:prstGeom prst="rect">
            <a:avLst/>
          </a:prstGeom>
          <a:noFill/>
          <a:ln/>
        </p:spPr>
        <p:txBody>
          <a:bodyPr wrap="square" lIns="0" tIns="0" rIns="0" bIns="0" rtlCol="0" anchor="ctr"/>
          <a:lstStyle/>
          <a:p>
            <a:pPr indent="0" marL="0">
              <a:buNone/>
            </a:pPr>
            <a:r>
              <a:rPr lang="en-US" sz="1800" i="1" dirty="0">
                <a:solidFill>
                  <a:srgbClr val="CADCE0"/>
                </a:solidFill>
                <a:latin typeface="Calibri" pitchFamily="34" charset="0"/>
                <a:ea typeface="Calibri" pitchFamily="34" charset="-122"/>
                <a:cs typeface="Calibri" pitchFamily="34" charset="-120"/>
              </a:rPr>
              <a:t>Proposal &amp; Requirements Analysis</a:t>
            </a:r>
            <a:endParaRPr lang="en-US" sz="1800" dirty="0"/>
          </a:p>
        </p:txBody>
      </p:sp>
      <p:sp>
        <p:nvSpPr>
          <p:cNvPr id="7" name="Text 5"/>
          <p:cNvSpPr txBox="1"/>
          <p:nvPr/>
        </p:nvSpPr>
        <p:spPr>
          <a:xfrm>
            <a:off x="731520" y="5760720"/>
            <a:ext cx="54864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Team Members: </a:t>
            </a:r>
            <a:pPr indent="0" marL="0">
              <a:buNone/>
            </a:pPr>
            <a:r>
              <a:rPr lang="en-US" sz="1300" dirty="0">
                <a:solidFill>
                  <a:srgbClr val="CADCE0"/>
                </a:solidFill>
                <a:latin typeface="Calibri" pitchFamily="34" charset="0"/>
                <a:ea typeface="Calibri" pitchFamily="34" charset="-122"/>
                <a:cs typeface="Calibri" pitchFamily="34" charset="-120"/>
              </a:rPr>
              <a:t>[Add names]</a:t>
            </a:r>
            <a:endParaRPr lang="en-US" sz="1300" dirty="0"/>
          </a:p>
        </p:txBody>
      </p:sp>
      <p:sp>
        <p:nvSpPr>
          <p:cNvPr id="8" name="Text 6"/>
          <p:cNvSpPr txBox="1"/>
          <p:nvPr/>
        </p:nvSpPr>
        <p:spPr>
          <a:xfrm>
            <a:off x="731520" y="6080760"/>
            <a:ext cx="54864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Course / Section: </a:t>
            </a:r>
            <a:pPr indent="0" marL="0">
              <a:buNone/>
            </a:pPr>
            <a:r>
              <a:rPr lang="en-US" sz="1300" dirty="0">
                <a:solidFill>
                  <a:srgbClr val="CADCE0"/>
                </a:solidFill>
                <a:latin typeface="Calibri" pitchFamily="34" charset="0"/>
                <a:ea typeface="Calibri" pitchFamily="34" charset="-122"/>
                <a:cs typeface="Calibri" pitchFamily="34" charset="-120"/>
              </a:rPr>
              <a:t>[Add course]</a:t>
            </a:r>
            <a:endParaRPr lang="en-US" sz="1300" dirty="0"/>
          </a:p>
        </p:txBody>
      </p:sp>
      <p:sp>
        <p:nvSpPr>
          <p:cNvPr id="9" name="Text 7"/>
          <p:cNvSpPr txBox="1"/>
          <p:nvPr/>
        </p:nvSpPr>
        <p:spPr>
          <a:xfrm>
            <a:off x="8686800" y="5943600"/>
            <a:ext cx="2743200" cy="320040"/>
          </a:xfrm>
          <a:prstGeom prst="rect">
            <a:avLst/>
          </a:prstGeom>
          <a:noFill/>
          <a:ln/>
        </p:spPr>
        <p:txBody>
          <a:bodyPr wrap="square" lIns="0" tIns="0" rIns="0" bIns="0" rtlCol="0" anchor="ctr"/>
          <a:lstStyle/>
          <a:p>
            <a:pPr algn="r" indent="0" marL="0">
              <a:buNone/>
            </a:pPr>
            <a:r>
              <a:rPr lang="en-US" sz="1300" dirty="0">
                <a:solidFill>
                  <a:srgbClr val="CADCE0"/>
                </a:solidFill>
                <a:latin typeface="Calibri" pitchFamily="34" charset="0"/>
                <a:ea typeface="Calibri" pitchFamily="34" charset="-122"/>
                <a:cs typeface="Calibri" pitchFamily="34" charset="-120"/>
              </a:rPr>
              <a:t>August 26,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548640"/>
          </a:xfrm>
          <a:prstGeom prst="rect">
            <a:avLst/>
          </a:prstGeom>
          <a:noFill/>
          <a:ln/>
        </p:spPr>
        <p:txBody>
          <a:bodyPr wrap="square" lIns="0" tIns="0" rIns="0" bIns="0" rtlCol="0" anchor="ctr"/>
          <a:lstStyle/>
          <a:p>
            <a:pPr indent="0" marL="0">
              <a:buNone/>
            </a:pPr>
            <a:r>
              <a:rPr lang="en-US" sz="3200" b="1" dirty="0">
                <a:solidFill>
                  <a:srgbClr val="013A40"/>
                </a:solidFill>
                <a:latin typeface="Cambria" pitchFamily="34" charset="0"/>
                <a:ea typeface="Cambria" pitchFamily="34" charset="-122"/>
                <a:cs typeface="Cambria" pitchFamily="34" charset="-120"/>
              </a:rPr>
              <a:t>The Problem</a:t>
            </a:r>
            <a:endParaRPr lang="en-US" sz="3200" dirty="0"/>
          </a:p>
        </p:txBody>
      </p:sp>
      <p:sp>
        <p:nvSpPr>
          <p:cNvPr id="3" name="Text 1"/>
          <p:cNvSpPr txBox="1"/>
          <p:nvPr/>
        </p:nvSpPr>
        <p:spPr>
          <a:xfrm>
            <a:off x="548640" y="960120"/>
            <a:ext cx="8229600" cy="365760"/>
          </a:xfrm>
          <a:prstGeom prst="rect">
            <a:avLst/>
          </a:prstGeom>
          <a:noFill/>
          <a:ln/>
        </p:spPr>
        <p:txBody>
          <a:bodyPr wrap="square" lIns="0" tIns="0" rIns="0" bIns="0" rtlCol="0" anchor="ctr"/>
          <a:lstStyle/>
          <a:p>
            <a:pPr indent="0" marL="0">
              <a:buNone/>
            </a:pPr>
            <a:r>
              <a:rPr lang="en-US" sz="1400" i="1" dirty="0">
                <a:solidFill>
                  <a:srgbClr val="5B7370"/>
                </a:solidFill>
                <a:latin typeface="Calibri" pitchFamily="34" charset="0"/>
                <a:ea typeface="Calibri" pitchFamily="34" charset="-122"/>
                <a:cs typeface="Calibri" pitchFamily="34" charset="-120"/>
              </a:rPr>
              <a:t>Why hostel administration needs a dedicated DBMS</a:t>
            </a:r>
            <a:endParaRPr lang="en-US" sz="1400" dirty="0"/>
          </a:p>
        </p:txBody>
      </p:sp>
      <p:sp>
        <p:nvSpPr>
          <p:cNvPr id="4" name="Text 2"/>
          <p:cNvSpPr txBox="1"/>
          <p:nvPr/>
        </p:nvSpPr>
        <p:spPr>
          <a:xfrm>
            <a:off x="548640" y="1554480"/>
            <a:ext cx="5212080" cy="2926080"/>
          </a:xfrm>
          <a:prstGeom prst="rect">
            <a:avLst/>
          </a:prstGeom>
          <a:noFill/>
          <a:ln/>
        </p:spPr>
        <p:txBody>
          <a:bodyPr wrap="square" lIns="0" tIns="0" rIns="0" bIns="0" rtlCol="0" anchor="ctr"/>
          <a:lstStyle/>
          <a:p>
            <a:pPr indent="0" marL="0">
              <a:lnSpc>
                <a:spcPct val="130000"/>
              </a:lnSpc>
              <a:buNone/>
            </a:pPr>
            <a:r>
              <a:rPr lang="en-US" sz="1500" dirty="0">
                <a:solidFill>
                  <a:srgbClr val="17302E"/>
                </a:solidFill>
                <a:latin typeface="Calibri" pitchFamily="34" charset="0"/>
                <a:ea typeface="Calibri" pitchFamily="34" charset="-122"/>
                <a:cs typeface="Calibri" pitchFamily="34" charset="-120"/>
              </a:rPr>
              <a:t>Hostel administration today relies on manual registers and scattered spreadsheets to manage room allotment, student records, fee collection, mess accounts, and complaints. This causes duplicated data, allotment conflicts, delayed reporting, and no single reliable source of truth for wardens or students.</a:t>
            </a:r>
            <a:endParaRPr lang="en-US" sz="1500" dirty="0"/>
          </a:p>
        </p:txBody>
      </p:sp>
      <p:sp>
        <p:nvSpPr>
          <p:cNvPr id="5" name="Shape 3"/>
          <p:cNvSpPr/>
          <p:nvPr/>
        </p:nvSpPr>
        <p:spPr>
          <a:xfrm>
            <a:off x="6309360" y="1554480"/>
            <a:ext cx="5303520" cy="777240"/>
          </a:xfrm>
          <a:prstGeom prst="roundRect">
            <a:avLst>
              <a:gd name="adj" fmla="val 9412"/>
            </a:avLst>
          </a:prstGeom>
          <a:solidFill>
            <a:srgbClr val="F2F7F6"/>
          </a:solidFill>
          <a:ln/>
        </p:spPr>
      </p:sp>
      <p:sp>
        <p:nvSpPr>
          <p:cNvPr id="6" name="Shape 4"/>
          <p:cNvSpPr/>
          <p:nvPr/>
        </p:nvSpPr>
        <p:spPr>
          <a:xfrm>
            <a:off x="6492240" y="1709928"/>
            <a:ext cx="457200" cy="457200"/>
          </a:xfrm>
          <a:prstGeom prst="ellipse">
            <a:avLst/>
          </a:prstGeom>
          <a:solidFill>
            <a:srgbClr val="028090"/>
          </a:solidFill>
          <a:ln/>
        </p:spPr>
      </p:sp>
      <p:sp>
        <p:nvSpPr>
          <p:cNvPr id="7" name="Text 5"/>
          <p:cNvSpPr txBox="1"/>
          <p:nvPr/>
        </p:nvSpPr>
        <p:spPr>
          <a:xfrm>
            <a:off x="6492240" y="17099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8" name="Text 6"/>
          <p:cNvSpPr txBox="1"/>
          <p:nvPr/>
        </p:nvSpPr>
        <p:spPr>
          <a:xfrm>
            <a:off x="7178040" y="1554480"/>
            <a:ext cx="4297680" cy="777240"/>
          </a:xfrm>
          <a:prstGeom prst="rect">
            <a:avLst/>
          </a:prstGeom>
          <a:noFill/>
          <a:ln/>
        </p:spPr>
        <p:txBody>
          <a:bodyPr wrap="square" lIns="0" tIns="0" rIns="0" bIns="0" rtlCol="0" anchor="ctr"/>
          <a:lstStyle/>
          <a:p>
            <a:pPr indent="0" marL="0">
              <a:buNone/>
            </a:pPr>
            <a:r>
              <a:rPr lang="en-US" sz="1500" b="1" dirty="0">
                <a:solidFill>
                  <a:srgbClr val="17302E"/>
                </a:solidFill>
                <a:latin typeface="Calibri" pitchFamily="34" charset="0"/>
                <a:ea typeface="Calibri" pitchFamily="34" charset="-122"/>
                <a:cs typeface="Calibri" pitchFamily="34" charset="-120"/>
              </a:rPr>
              <a:t>Manual, error-prone records</a:t>
            </a:r>
            <a:endParaRPr lang="en-US" sz="1500" dirty="0"/>
          </a:p>
        </p:txBody>
      </p:sp>
      <p:sp>
        <p:nvSpPr>
          <p:cNvPr id="9" name="Shape 7"/>
          <p:cNvSpPr/>
          <p:nvPr/>
        </p:nvSpPr>
        <p:spPr>
          <a:xfrm>
            <a:off x="6309360" y="2514600"/>
            <a:ext cx="5303520" cy="777240"/>
          </a:xfrm>
          <a:prstGeom prst="roundRect">
            <a:avLst>
              <a:gd name="adj" fmla="val 9412"/>
            </a:avLst>
          </a:prstGeom>
          <a:solidFill>
            <a:srgbClr val="F2F7F6"/>
          </a:solidFill>
          <a:ln/>
        </p:spPr>
      </p:sp>
      <p:sp>
        <p:nvSpPr>
          <p:cNvPr id="10" name="Shape 8"/>
          <p:cNvSpPr/>
          <p:nvPr/>
        </p:nvSpPr>
        <p:spPr>
          <a:xfrm>
            <a:off x="6492240" y="2670048"/>
            <a:ext cx="457200" cy="457200"/>
          </a:xfrm>
          <a:prstGeom prst="ellipse">
            <a:avLst/>
          </a:prstGeom>
          <a:solidFill>
            <a:srgbClr val="028090"/>
          </a:solidFill>
          <a:ln/>
        </p:spPr>
      </p:sp>
      <p:sp>
        <p:nvSpPr>
          <p:cNvPr id="11" name="Text 9"/>
          <p:cNvSpPr txBox="1"/>
          <p:nvPr/>
        </p:nvSpPr>
        <p:spPr>
          <a:xfrm>
            <a:off x="6492240" y="26700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p:cNvSpPr txBox="1"/>
          <p:nvPr/>
        </p:nvSpPr>
        <p:spPr>
          <a:xfrm>
            <a:off x="7178040" y="2514600"/>
            <a:ext cx="4297680" cy="777240"/>
          </a:xfrm>
          <a:prstGeom prst="rect">
            <a:avLst/>
          </a:prstGeom>
          <a:noFill/>
          <a:ln/>
        </p:spPr>
        <p:txBody>
          <a:bodyPr wrap="square" lIns="0" tIns="0" rIns="0" bIns="0" rtlCol="0" anchor="ctr"/>
          <a:lstStyle/>
          <a:p>
            <a:pPr indent="0" marL="0">
              <a:buNone/>
            </a:pPr>
            <a:r>
              <a:rPr lang="en-US" sz="1500" b="1" dirty="0">
                <a:solidFill>
                  <a:srgbClr val="17302E"/>
                </a:solidFill>
                <a:latin typeface="Calibri" pitchFamily="34" charset="0"/>
                <a:ea typeface="Calibri" pitchFamily="34" charset="-122"/>
                <a:cs typeface="Calibri" pitchFamily="34" charset="-120"/>
              </a:rPr>
              <a:t>Duplicate &amp; inconsistent data</a:t>
            </a:r>
            <a:endParaRPr lang="en-US" sz="1500" dirty="0"/>
          </a:p>
        </p:txBody>
      </p:sp>
      <p:sp>
        <p:nvSpPr>
          <p:cNvPr id="13" name="Shape 11"/>
          <p:cNvSpPr/>
          <p:nvPr/>
        </p:nvSpPr>
        <p:spPr>
          <a:xfrm>
            <a:off x="6309360" y="3474720"/>
            <a:ext cx="5303520" cy="777240"/>
          </a:xfrm>
          <a:prstGeom prst="roundRect">
            <a:avLst>
              <a:gd name="adj" fmla="val 9412"/>
            </a:avLst>
          </a:prstGeom>
          <a:solidFill>
            <a:srgbClr val="F2F7F6"/>
          </a:solidFill>
          <a:ln/>
        </p:spPr>
      </p:sp>
      <p:sp>
        <p:nvSpPr>
          <p:cNvPr id="14" name="Shape 12"/>
          <p:cNvSpPr/>
          <p:nvPr/>
        </p:nvSpPr>
        <p:spPr>
          <a:xfrm>
            <a:off x="6492240" y="3630168"/>
            <a:ext cx="457200" cy="457200"/>
          </a:xfrm>
          <a:prstGeom prst="ellipse">
            <a:avLst/>
          </a:prstGeom>
          <a:solidFill>
            <a:srgbClr val="028090"/>
          </a:solidFill>
          <a:ln/>
        </p:spPr>
      </p:sp>
      <p:sp>
        <p:nvSpPr>
          <p:cNvPr id="15" name="Text 13"/>
          <p:cNvSpPr txBox="1"/>
          <p:nvPr/>
        </p:nvSpPr>
        <p:spPr>
          <a:xfrm>
            <a:off x="6492240" y="36301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6" name="Text 14"/>
          <p:cNvSpPr txBox="1"/>
          <p:nvPr/>
        </p:nvSpPr>
        <p:spPr>
          <a:xfrm>
            <a:off x="7178040" y="3474720"/>
            <a:ext cx="4297680" cy="777240"/>
          </a:xfrm>
          <a:prstGeom prst="rect">
            <a:avLst/>
          </a:prstGeom>
          <a:noFill/>
          <a:ln/>
        </p:spPr>
        <p:txBody>
          <a:bodyPr wrap="square" lIns="0" tIns="0" rIns="0" bIns="0" rtlCol="0" anchor="ctr"/>
          <a:lstStyle/>
          <a:p>
            <a:pPr indent="0" marL="0">
              <a:buNone/>
            </a:pPr>
            <a:r>
              <a:rPr lang="en-US" sz="1500" b="1" dirty="0">
                <a:solidFill>
                  <a:srgbClr val="17302E"/>
                </a:solidFill>
                <a:latin typeface="Calibri" pitchFamily="34" charset="0"/>
                <a:ea typeface="Calibri" pitchFamily="34" charset="-122"/>
                <a:cs typeface="Calibri" pitchFamily="34" charset="-120"/>
              </a:rPr>
              <a:t>Slow complaint resolution</a:t>
            </a:r>
            <a:endParaRPr lang="en-US" sz="1500" dirty="0"/>
          </a:p>
        </p:txBody>
      </p:sp>
      <p:sp>
        <p:nvSpPr>
          <p:cNvPr id="17" name="Shape 15"/>
          <p:cNvSpPr/>
          <p:nvPr/>
        </p:nvSpPr>
        <p:spPr>
          <a:xfrm>
            <a:off x="6309360" y="4434840"/>
            <a:ext cx="5303520" cy="777240"/>
          </a:xfrm>
          <a:prstGeom prst="roundRect">
            <a:avLst>
              <a:gd name="adj" fmla="val 9412"/>
            </a:avLst>
          </a:prstGeom>
          <a:solidFill>
            <a:srgbClr val="F2F7F6"/>
          </a:solidFill>
          <a:ln/>
        </p:spPr>
      </p:sp>
      <p:sp>
        <p:nvSpPr>
          <p:cNvPr id="18" name="Shape 16"/>
          <p:cNvSpPr/>
          <p:nvPr/>
        </p:nvSpPr>
        <p:spPr>
          <a:xfrm>
            <a:off x="6492240" y="4590288"/>
            <a:ext cx="457200" cy="457200"/>
          </a:xfrm>
          <a:prstGeom prst="ellipse">
            <a:avLst/>
          </a:prstGeom>
          <a:solidFill>
            <a:srgbClr val="028090"/>
          </a:solidFill>
          <a:ln/>
        </p:spPr>
      </p:sp>
      <p:sp>
        <p:nvSpPr>
          <p:cNvPr id="19" name="Text 17"/>
          <p:cNvSpPr txBox="1"/>
          <p:nvPr/>
        </p:nvSpPr>
        <p:spPr>
          <a:xfrm>
            <a:off x="6492240" y="45902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0" name="Text 18"/>
          <p:cNvSpPr txBox="1"/>
          <p:nvPr/>
        </p:nvSpPr>
        <p:spPr>
          <a:xfrm>
            <a:off x="7178040" y="4434840"/>
            <a:ext cx="4297680" cy="777240"/>
          </a:xfrm>
          <a:prstGeom prst="rect">
            <a:avLst/>
          </a:prstGeom>
          <a:noFill/>
          <a:ln/>
        </p:spPr>
        <p:txBody>
          <a:bodyPr wrap="square" lIns="0" tIns="0" rIns="0" bIns="0" rtlCol="0" anchor="ctr"/>
          <a:lstStyle/>
          <a:p>
            <a:pPr indent="0" marL="0">
              <a:buNone/>
            </a:pPr>
            <a:r>
              <a:rPr lang="en-US" sz="1500" b="1" dirty="0">
                <a:solidFill>
                  <a:srgbClr val="17302E"/>
                </a:solidFill>
                <a:latin typeface="Calibri" pitchFamily="34" charset="0"/>
                <a:ea typeface="Calibri" pitchFamily="34" charset="-122"/>
                <a:cs typeface="Calibri" pitchFamily="34" charset="-120"/>
              </a:rPr>
              <a:t>Fee &amp; mess dues hard to track</a:t>
            </a:r>
            <a:endParaRPr lang="en-US" sz="1500" dirty="0"/>
          </a:p>
        </p:txBody>
      </p:sp>
      <p:sp>
        <p:nvSpPr>
          <p:cNvPr id="21" name="Text 19"/>
          <p:cNvSpPr/>
          <p:nvPr/>
        </p:nvSpPr>
        <p:spPr>
          <a:xfrm>
            <a:off x="457200" y="6537960"/>
            <a:ext cx="5486400" cy="274320"/>
          </a:xfrm>
          <a:prstGeom prst="rect">
            <a:avLst/>
          </a:prstGeom>
          <a:noFill/>
          <a:ln/>
        </p:spPr>
        <p:txBody>
          <a:bodyPr wrap="square" lIns="0" tIns="0" rIns="0" bIns="0" rtlCol="0" anchor="ctr"/>
          <a:lstStyle/>
          <a:p>
            <a:pPr algn="l" indent="0" marL="0">
              <a:buNone/>
            </a:pPr>
            <a:r>
              <a:rPr lang="en-US" sz="1000" dirty="0">
                <a:solidFill>
                  <a:srgbClr val="5B7370"/>
                </a:solidFill>
                <a:latin typeface="Calibri" pitchFamily="34" charset="0"/>
                <a:ea typeface="Calibri" pitchFamily="34" charset="-122"/>
                <a:cs typeface="Calibri" pitchFamily="34" charset="-120"/>
              </a:rPr>
              <a:t>Hostel Accommodation &amp; Student Services DBMS</a:t>
            </a:r>
            <a:endParaRPr lang="en-US" sz="1000" dirty="0"/>
          </a:p>
        </p:txBody>
      </p:sp>
      <p:sp>
        <p:nvSpPr>
          <p:cNvPr id="22" name="Text 20"/>
          <p:cNvSpPr/>
          <p:nvPr/>
        </p:nvSpPr>
        <p:spPr>
          <a:xfrm>
            <a:off x="11247120" y="6537960"/>
            <a:ext cx="457200" cy="274320"/>
          </a:xfrm>
          <a:prstGeom prst="rect">
            <a:avLst/>
          </a:prstGeom>
          <a:noFill/>
          <a:ln/>
        </p:spPr>
        <p:txBody>
          <a:bodyPr wrap="square" lIns="0" tIns="0" rIns="0" bIns="0" rtlCol="0" anchor="ctr"/>
          <a:lstStyle/>
          <a:p>
            <a:pPr algn="r" indent="0" marL="0">
              <a:buNone/>
            </a:pPr>
            <a:r>
              <a:rPr lang="en-US" sz="1000" dirty="0">
                <a:solidFill>
                  <a:srgbClr val="5B737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548640"/>
          </a:xfrm>
          <a:prstGeom prst="rect">
            <a:avLst/>
          </a:prstGeom>
          <a:noFill/>
          <a:ln/>
        </p:spPr>
        <p:txBody>
          <a:bodyPr wrap="square" lIns="0" tIns="0" rIns="0" bIns="0" rtlCol="0" anchor="ctr"/>
          <a:lstStyle/>
          <a:p>
            <a:pPr indent="0" marL="0">
              <a:buNone/>
            </a:pPr>
            <a:r>
              <a:rPr lang="en-US" sz="3200" b="1" dirty="0">
                <a:solidFill>
                  <a:srgbClr val="013A40"/>
                </a:solidFill>
                <a:latin typeface="Cambria" pitchFamily="34" charset="0"/>
                <a:ea typeface="Cambria" pitchFamily="34" charset="-122"/>
                <a:cs typeface="Cambria" pitchFamily="34" charset="-120"/>
              </a:rPr>
              <a:t>Project Objectives</a:t>
            </a:r>
            <a:endParaRPr lang="en-US" sz="3200" dirty="0"/>
          </a:p>
        </p:txBody>
      </p:sp>
      <p:sp>
        <p:nvSpPr>
          <p:cNvPr id="3" name="Text 1"/>
          <p:cNvSpPr txBox="1"/>
          <p:nvPr/>
        </p:nvSpPr>
        <p:spPr>
          <a:xfrm>
            <a:off x="548640" y="960120"/>
            <a:ext cx="8229600" cy="365760"/>
          </a:xfrm>
          <a:prstGeom prst="rect">
            <a:avLst/>
          </a:prstGeom>
          <a:noFill/>
          <a:ln/>
        </p:spPr>
        <p:txBody>
          <a:bodyPr wrap="square" lIns="0" tIns="0" rIns="0" bIns="0" rtlCol="0" anchor="ctr"/>
          <a:lstStyle/>
          <a:p>
            <a:pPr indent="0" marL="0">
              <a:buNone/>
            </a:pPr>
            <a:r>
              <a:rPr lang="en-US" sz="1400" i="1" dirty="0">
                <a:solidFill>
                  <a:srgbClr val="5B7370"/>
                </a:solidFill>
                <a:latin typeface="Calibri" pitchFamily="34" charset="0"/>
                <a:ea typeface="Calibri" pitchFamily="34" charset="-122"/>
                <a:cs typeface="Calibri" pitchFamily="34" charset="-120"/>
              </a:rPr>
              <a:t>What the system is designed to achieve</a:t>
            </a:r>
            <a:endParaRPr lang="en-US" sz="1400" dirty="0"/>
          </a:p>
        </p:txBody>
      </p:sp>
      <p:sp>
        <p:nvSpPr>
          <p:cNvPr id="4" name="Shape 2"/>
          <p:cNvSpPr/>
          <p:nvPr/>
        </p:nvSpPr>
        <p:spPr>
          <a:xfrm>
            <a:off x="548640" y="1691640"/>
            <a:ext cx="2139696" cy="3566160"/>
          </a:xfrm>
          <a:prstGeom prst="roundRect">
            <a:avLst>
              <a:gd name="adj" fmla="val 3419"/>
            </a:avLst>
          </a:prstGeom>
          <a:solidFill>
            <a:srgbClr val="028090"/>
          </a:solidFill>
          <a:ln/>
        </p:spPr>
      </p:sp>
      <p:sp>
        <p:nvSpPr>
          <p:cNvPr id="5" name="Text 3"/>
          <p:cNvSpPr txBox="1"/>
          <p:nvPr/>
        </p:nvSpPr>
        <p:spPr>
          <a:xfrm>
            <a:off x="685800" y="1828800"/>
            <a:ext cx="1865376"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01</a:t>
            </a:r>
            <a:endParaRPr lang="en-US" sz="2600" dirty="0"/>
          </a:p>
        </p:txBody>
      </p:sp>
      <p:sp>
        <p:nvSpPr>
          <p:cNvPr id="6" name="Text 4"/>
          <p:cNvSpPr txBox="1"/>
          <p:nvPr/>
        </p:nvSpPr>
        <p:spPr>
          <a:xfrm>
            <a:off x="685800" y="2468880"/>
            <a:ext cx="1865376" cy="64008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Centralize Data</a:t>
            </a:r>
            <a:endParaRPr lang="en-US" sz="1500" dirty="0"/>
          </a:p>
        </p:txBody>
      </p:sp>
      <p:sp>
        <p:nvSpPr>
          <p:cNvPr id="7" name="Text 5"/>
          <p:cNvSpPr txBox="1"/>
          <p:nvPr/>
        </p:nvSpPr>
        <p:spPr>
          <a:xfrm>
            <a:off x="685800" y="3108960"/>
            <a:ext cx="1865376" cy="2011680"/>
          </a:xfrm>
          <a:prstGeom prst="rect">
            <a:avLst/>
          </a:prstGeom>
          <a:noFill/>
          <a:ln/>
        </p:spPr>
        <p:txBody>
          <a:bodyPr wrap="square" lIns="0" tIns="0" rIns="0" bIns="0" rtlCol="0" anchor="ctr"/>
          <a:lstStyle/>
          <a:p>
            <a:pPr indent="0" marL="0">
              <a:lnSpc>
                <a:spcPct val="125000"/>
              </a:lnSpc>
              <a:buNone/>
            </a:pPr>
            <a:r>
              <a:rPr lang="en-US" sz="1150" dirty="0">
                <a:solidFill>
                  <a:srgbClr val="F0FBF9"/>
                </a:solidFill>
                <a:latin typeface="Calibri" pitchFamily="34" charset="0"/>
                <a:ea typeface="Calibri" pitchFamily="34" charset="-122"/>
                <a:cs typeface="Calibri" pitchFamily="34" charset="-120"/>
              </a:rPr>
              <a:t>Store all student, room, fee, and complaint records in one relational database.</a:t>
            </a:r>
            <a:endParaRPr lang="en-US" sz="1150" dirty="0"/>
          </a:p>
        </p:txBody>
      </p:sp>
      <p:sp>
        <p:nvSpPr>
          <p:cNvPr id="8" name="Shape 6"/>
          <p:cNvSpPr/>
          <p:nvPr/>
        </p:nvSpPr>
        <p:spPr>
          <a:xfrm>
            <a:off x="2825496" y="1691640"/>
            <a:ext cx="2139696" cy="3566160"/>
          </a:xfrm>
          <a:prstGeom prst="roundRect">
            <a:avLst>
              <a:gd name="adj" fmla="val 3419"/>
            </a:avLst>
          </a:prstGeom>
          <a:solidFill>
            <a:srgbClr val="00A896"/>
          </a:solidFill>
          <a:ln/>
        </p:spPr>
      </p:sp>
      <p:sp>
        <p:nvSpPr>
          <p:cNvPr id="9" name="Text 7"/>
          <p:cNvSpPr txBox="1"/>
          <p:nvPr/>
        </p:nvSpPr>
        <p:spPr>
          <a:xfrm>
            <a:off x="2962656" y="1828800"/>
            <a:ext cx="1865376"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02</a:t>
            </a:r>
            <a:endParaRPr lang="en-US" sz="2600" dirty="0"/>
          </a:p>
        </p:txBody>
      </p:sp>
      <p:sp>
        <p:nvSpPr>
          <p:cNvPr id="10" name="Text 8"/>
          <p:cNvSpPr txBox="1"/>
          <p:nvPr/>
        </p:nvSpPr>
        <p:spPr>
          <a:xfrm>
            <a:off x="2962656" y="2468880"/>
            <a:ext cx="1865376" cy="64008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Automate Allocation</a:t>
            </a:r>
            <a:endParaRPr lang="en-US" sz="1500" dirty="0"/>
          </a:p>
        </p:txBody>
      </p:sp>
      <p:sp>
        <p:nvSpPr>
          <p:cNvPr id="11" name="Text 9"/>
          <p:cNvSpPr txBox="1"/>
          <p:nvPr/>
        </p:nvSpPr>
        <p:spPr>
          <a:xfrm>
            <a:off x="2962656" y="3108960"/>
            <a:ext cx="1865376" cy="2011680"/>
          </a:xfrm>
          <a:prstGeom prst="rect">
            <a:avLst/>
          </a:prstGeom>
          <a:noFill/>
          <a:ln/>
        </p:spPr>
        <p:txBody>
          <a:bodyPr wrap="square" lIns="0" tIns="0" rIns="0" bIns="0" rtlCol="0" anchor="ctr"/>
          <a:lstStyle/>
          <a:p>
            <a:pPr indent="0" marL="0">
              <a:lnSpc>
                <a:spcPct val="125000"/>
              </a:lnSpc>
              <a:buNone/>
            </a:pPr>
            <a:r>
              <a:rPr lang="en-US" sz="1150" dirty="0">
                <a:solidFill>
                  <a:srgbClr val="F0FBF9"/>
                </a:solidFill>
                <a:latin typeface="Calibri" pitchFamily="34" charset="0"/>
                <a:ea typeface="Calibri" pitchFamily="34" charset="-122"/>
                <a:cs typeface="Calibri" pitchFamily="34" charset="-120"/>
              </a:rPr>
              <a:t>Allot and track hostel rooms automatically, avoiding double-booking.</a:t>
            </a:r>
            <a:endParaRPr lang="en-US" sz="1150" dirty="0"/>
          </a:p>
        </p:txBody>
      </p:sp>
      <p:sp>
        <p:nvSpPr>
          <p:cNvPr id="12" name="Shape 10"/>
          <p:cNvSpPr/>
          <p:nvPr/>
        </p:nvSpPr>
        <p:spPr>
          <a:xfrm>
            <a:off x="5102352" y="1691640"/>
            <a:ext cx="2139696" cy="3566160"/>
          </a:xfrm>
          <a:prstGeom prst="roundRect">
            <a:avLst>
              <a:gd name="adj" fmla="val 3419"/>
            </a:avLst>
          </a:prstGeom>
          <a:solidFill>
            <a:srgbClr val="028090"/>
          </a:solidFill>
          <a:ln/>
        </p:spPr>
      </p:sp>
      <p:sp>
        <p:nvSpPr>
          <p:cNvPr id="13" name="Text 11"/>
          <p:cNvSpPr txBox="1"/>
          <p:nvPr/>
        </p:nvSpPr>
        <p:spPr>
          <a:xfrm>
            <a:off x="5239512" y="1828800"/>
            <a:ext cx="1865376"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03</a:t>
            </a:r>
            <a:endParaRPr lang="en-US" sz="2600" dirty="0"/>
          </a:p>
        </p:txBody>
      </p:sp>
      <p:sp>
        <p:nvSpPr>
          <p:cNvPr id="14" name="Text 12"/>
          <p:cNvSpPr txBox="1"/>
          <p:nvPr/>
        </p:nvSpPr>
        <p:spPr>
          <a:xfrm>
            <a:off x="5239512" y="2468880"/>
            <a:ext cx="1865376" cy="64008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Track Payments</a:t>
            </a:r>
            <a:endParaRPr lang="en-US" sz="1500" dirty="0"/>
          </a:p>
        </p:txBody>
      </p:sp>
      <p:sp>
        <p:nvSpPr>
          <p:cNvPr id="15" name="Text 13"/>
          <p:cNvSpPr txBox="1"/>
          <p:nvPr/>
        </p:nvSpPr>
        <p:spPr>
          <a:xfrm>
            <a:off x="5239512" y="3108960"/>
            <a:ext cx="1865376" cy="2011680"/>
          </a:xfrm>
          <a:prstGeom prst="rect">
            <a:avLst/>
          </a:prstGeom>
          <a:noFill/>
          <a:ln/>
        </p:spPr>
        <p:txBody>
          <a:bodyPr wrap="square" lIns="0" tIns="0" rIns="0" bIns="0" rtlCol="0" anchor="ctr"/>
          <a:lstStyle/>
          <a:p>
            <a:pPr indent="0" marL="0">
              <a:lnSpc>
                <a:spcPct val="125000"/>
              </a:lnSpc>
              <a:buNone/>
            </a:pPr>
            <a:r>
              <a:rPr lang="en-US" sz="1150" dirty="0">
                <a:solidFill>
                  <a:srgbClr val="F0FBF9"/>
                </a:solidFill>
                <a:latin typeface="Calibri" pitchFamily="34" charset="0"/>
                <a:ea typeface="Calibri" pitchFamily="34" charset="-122"/>
                <a:cs typeface="Calibri" pitchFamily="34" charset="-120"/>
              </a:rPr>
              <a:t>Record and monitor fee and mess payments with due-date visibility.</a:t>
            </a:r>
            <a:endParaRPr lang="en-US" sz="1150" dirty="0"/>
          </a:p>
        </p:txBody>
      </p:sp>
      <p:sp>
        <p:nvSpPr>
          <p:cNvPr id="16" name="Shape 14"/>
          <p:cNvSpPr/>
          <p:nvPr/>
        </p:nvSpPr>
        <p:spPr>
          <a:xfrm>
            <a:off x="7379208" y="1691640"/>
            <a:ext cx="2139696" cy="3566160"/>
          </a:xfrm>
          <a:prstGeom prst="roundRect">
            <a:avLst>
              <a:gd name="adj" fmla="val 3419"/>
            </a:avLst>
          </a:prstGeom>
          <a:solidFill>
            <a:srgbClr val="00A896"/>
          </a:solidFill>
          <a:ln/>
        </p:spPr>
      </p:sp>
      <p:sp>
        <p:nvSpPr>
          <p:cNvPr id="17" name="Text 15"/>
          <p:cNvSpPr txBox="1"/>
          <p:nvPr/>
        </p:nvSpPr>
        <p:spPr>
          <a:xfrm>
            <a:off x="7516368" y="1828800"/>
            <a:ext cx="1865376"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04</a:t>
            </a:r>
            <a:endParaRPr lang="en-US" sz="2600" dirty="0"/>
          </a:p>
        </p:txBody>
      </p:sp>
      <p:sp>
        <p:nvSpPr>
          <p:cNvPr id="18" name="Text 16"/>
          <p:cNvSpPr txBox="1"/>
          <p:nvPr/>
        </p:nvSpPr>
        <p:spPr>
          <a:xfrm>
            <a:off x="7516368" y="2468880"/>
            <a:ext cx="1865376" cy="64008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Manage Complaints</a:t>
            </a:r>
            <a:endParaRPr lang="en-US" sz="1500" dirty="0"/>
          </a:p>
        </p:txBody>
      </p:sp>
      <p:sp>
        <p:nvSpPr>
          <p:cNvPr id="19" name="Text 17"/>
          <p:cNvSpPr txBox="1"/>
          <p:nvPr/>
        </p:nvSpPr>
        <p:spPr>
          <a:xfrm>
            <a:off x="7516368" y="3108960"/>
            <a:ext cx="1865376" cy="2011680"/>
          </a:xfrm>
          <a:prstGeom prst="rect">
            <a:avLst/>
          </a:prstGeom>
          <a:noFill/>
          <a:ln/>
        </p:spPr>
        <p:txBody>
          <a:bodyPr wrap="square" lIns="0" tIns="0" rIns="0" bIns="0" rtlCol="0" anchor="ctr"/>
          <a:lstStyle/>
          <a:p>
            <a:pPr indent="0" marL="0">
              <a:lnSpc>
                <a:spcPct val="125000"/>
              </a:lnSpc>
              <a:buNone/>
            </a:pPr>
            <a:r>
              <a:rPr lang="en-US" sz="1150" dirty="0">
                <a:solidFill>
                  <a:srgbClr val="F0FBF9"/>
                </a:solidFill>
                <a:latin typeface="Calibri" pitchFamily="34" charset="0"/>
                <a:ea typeface="Calibri" pitchFamily="34" charset="-122"/>
                <a:cs typeface="Calibri" pitchFamily="34" charset="-120"/>
              </a:rPr>
              <a:t>Log maintenance/complaint requests and track resolution status.</a:t>
            </a:r>
            <a:endParaRPr lang="en-US" sz="1150" dirty="0"/>
          </a:p>
        </p:txBody>
      </p:sp>
      <p:sp>
        <p:nvSpPr>
          <p:cNvPr id="20" name="Shape 18"/>
          <p:cNvSpPr/>
          <p:nvPr/>
        </p:nvSpPr>
        <p:spPr>
          <a:xfrm>
            <a:off x="9656064" y="1691640"/>
            <a:ext cx="2139696" cy="3566160"/>
          </a:xfrm>
          <a:prstGeom prst="roundRect">
            <a:avLst>
              <a:gd name="adj" fmla="val 3419"/>
            </a:avLst>
          </a:prstGeom>
          <a:solidFill>
            <a:srgbClr val="028090"/>
          </a:solidFill>
          <a:ln/>
        </p:spPr>
      </p:sp>
      <p:sp>
        <p:nvSpPr>
          <p:cNvPr id="21" name="Text 19"/>
          <p:cNvSpPr txBox="1"/>
          <p:nvPr/>
        </p:nvSpPr>
        <p:spPr>
          <a:xfrm>
            <a:off x="9793224" y="1828800"/>
            <a:ext cx="1865376"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05</a:t>
            </a:r>
            <a:endParaRPr lang="en-US" sz="2600" dirty="0"/>
          </a:p>
        </p:txBody>
      </p:sp>
      <p:sp>
        <p:nvSpPr>
          <p:cNvPr id="22" name="Text 20"/>
          <p:cNvSpPr txBox="1"/>
          <p:nvPr/>
        </p:nvSpPr>
        <p:spPr>
          <a:xfrm>
            <a:off x="9793224" y="2468880"/>
            <a:ext cx="1865376" cy="64008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Generate Reports</a:t>
            </a:r>
            <a:endParaRPr lang="en-US" sz="1500" dirty="0"/>
          </a:p>
        </p:txBody>
      </p:sp>
      <p:sp>
        <p:nvSpPr>
          <p:cNvPr id="23" name="Text 21"/>
          <p:cNvSpPr txBox="1"/>
          <p:nvPr/>
        </p:nvSpPr>
        <p:spPr>
          <a:xfrm>
            <a:off x="9793224" y="3108960"/>
            <a:ext cx="1865376" cy="2011680"/>
          </a:xfrm>
          <a:prstGeom prst="rect">
            <a:avLst/>
          </a:prstGeom>
          <a:noFill/>
          <a:ln/>
        </p:spPr>
        <p:txBody>
          <a:bodyPr wrap="square" lIns="0" tIns="0" rIns="0" bIns="0" rtlCol="0" anchor="ctr"/>
          <a:lstStyle/>
          <a:p>
            <a:pPr indent="0" marL="0">
              <a:lnSpc>
                <a:spcPct val="125000"/>
              </a:lnSpc>
              <a:buNone/>
            </a:pPr>
            <a:r>
              <a:rPr lang="en-US" sz="1150" dirty="0">
                <a:solidFill>
                  <a:srgbClr val="F0FBF9"/>
                </a:solidFill>
                <a:latin typeface="Calibri" pitchFamily="34" charset="0"/>
                <a:ea typeface="Calibri" pitchFamily="34" charset="-122"/>
                <a:cs typeface="Calibri" pitchFamily="34" charset="-120"/>
              </a:rPr>
              <a:t>Produce occupancy, dues, and complaint reports for administrators.</a:t>
            </a:r>
            <a:endParaRPr lang="en-US" sz="1150" dirty="0"/>
          </a:p>
        </p:txBody>
      </p:sp>
      <p:sp>
        <p:nvSpPr>
          <p:cNvPr id="24" name="Text 22"/>
          <p:cNvSpPr/>
          <p:nvPr/>
        </p:nvSpPr>
        <p:spPr>
          <a:xfrm>
            <a:off x="457200" y="6537960"/>
            <a:ext cx="5486400" cy="274320"/>
          </a:xfrm>
          <a:prstGeom prst="rect">
            <a:avLst/>
          </a:prstGeom>
          <a:noFill/>
          <a:ln/>
        </p:spPr>
        <p:txBody>
          <a:bodyPr wrap="square" lIns="0" tIns="0" rIns="0" bIns="0" rtlCol="0" anchor="ctr"/>
          <a:lstStyle/>
          <a:p>
            <a:pPr algn="l" indent="0" marL="0">
              <a:buNone/>
            </a:pPr>
            <a:r>
              <a:rPr lang="en-US" sz="1000" dirty="0">
                <a:solidFill>
                  <a:srgbClr val="5B7370"/>
                </a:solidFill>
                <a:latin typeface="Calibri" pitchFamily="34" charset="0"/>
                <a:ea typeface="Calibri" pitchFamily="34" charset="-122"/>
                <a:cs typeface="Calibri" pitchFamily="34" charset="-120"/>
              </a:rPr>
              <a:t>Hostel Accommodation &amp; Student Services DBMS</a:t>
            </a:r>
            <a:endParaRPr lang="en-US" sz="1000" dirty="0"/>
          </a:p>
        </p:txBody>
      </p:sp>
      <p:sp>
        <p:nvSpPr>
          <p:cNvPr id="25" name="Text 23"/>
          <p:cNvSpPr/>
          <p:nvPr/>
        </p:nvSpPr>
        <p:spPr>
          <a:xfrm>
            <a:off x="11247120" y="6537960"/>
            <a:ext cx="457200" cy="274320"/>
          </a:xfrm>
          <a:prstGeom prst="rect">
            <a:avLst/>
          </a:prstGeom>
          <a:noFill/>
          <a:ln/>
        </p:spPr>
        <p:txBody>
          <a:bodyPr wrap="square" lIns="0" tIns="0" rIns="0" bIns="0" rtlCol="0" anchor="ctr"/>
          <a:lstStyle/>
          <a:p>
            <a:pPr algn="r" indent="0" marL="0">
              <a:buNone/>
            </a:pPr>
            <a:r>
              <a:rPr lang="en-US" sz="1000" dirty="0">
                <a:solidFill>
                  <a:srgbClr val="5B737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548640"/>
          </a:xfrm>
          <a:prstGeom prst="rect">
            <a:avLst/>
          </a:prstGeom>
          <a:noFill/>
          <a:ln/>
        </p:spPr>
        <p:txBody>
          <a:bodyPr wrap="square" lIns="0" tIns="0" rIns="0" bIns="0" rtlCol="0" anchor="ctr"/>
          <a:lstStyle/>
          <a:p>
            <a:pPr indent="0" marL="0">
              <a:buNone/>
            </a:pPr>
            <a:r>
              <a:rPr lang="en-US" sz="3200" b="1" dirty="0">
                <a:solidFill>
                  <a:srgbClr val="013A40"/>
                </a:solidFill>
                <a:latin typeface="Cambria" pitchFamily="34" charset="0"/>
                <a:ea typeface="Cambria" pitchFamily="34" charset="-122"/>
                <a:cs typeface="Cambria" pitchFamily="34" charset="-120"/>
              </a:rPr>
              <a:t>Key Entities</a:t>
            </a:r>
            <a:endParaRPr lang="en-US" sz="3200" dirty="0"/>
          </a:p>
        </p:txBody>
      </p:sp>
      <p:sp>
        <p:nvSpPr>
          <p:cNvPr id="3" name="Text 1"/>
          <p:cNvSpPr txBox="1"/>
          <p:nvPr/>
        </p:nvSpPr>
        <p:spPr>
          <a:xfrm>
            <a:off x="548640" y="960120"/>
            <a:ext cx="8229600" cy="365760"/>
          </a:xfrm>
          <a:prstGeom prst="rect">
            <a:avLst/>
          </a:prstGeom>
          <a:noFill/>
          <a:ln/>
        </p:spPr>
        <p:txBody>
          <a:bodyPr wrap="square" lIns="0" tIns="0" rIns="0" bIns="0" rtlCol="0" anchor="ctr"/>
          <a:lstStyle/>
          <a:p>
            <a:pPr indent="0" marL="0">
              <a:buNone/>
            </a:pPr>
            <a:r>
              <a:rPr lang="en-US" sz="1400" i="1" dirty="0">
                <a:solidFill>
                  <a:srgbClr val="5B7370"/>
                </a:solidFill>
                <a:latin typeface="Calibri" pitchFamily="34" charset="0"/>
                <a:ea typeface="Calibri" pitchFamily="34" charset="-122"/>
                <a:cs typeface="Calibri" pitchFamily="34" charset="-120"/>
              </a:rPr>
              <a:t>Core objects the database will store</a:t>
            </a:r>
            <a:endParaRPr lang="en-US" sz="1400" dirty="0"/>
          </a:p>
        </p:txBody>
      </p:sp>
      <p:sp>
        <p:nvSpPr>
          <p:cNvPr id="4" name="Shape 2"/>
          <p:cNvSpPr/>
          <p:nvPr/>
        </p:nvSpPr>
        <p:spPr>
          <a:xfrm>
            <a:off x="548640" y="1691640"/>
            <a:ext cx="2628900" cy="1965960"/>
          </a:xfrm>
          <a:prstGeom prst="roundRect">
            <a:avLst>
              <a:gd name="adj" fmla="val 3721"/>
            </a:avLst>
          </a:prstGeom>
          <a:solidFill>
            <a:srgbClr val="028090"/>
          </a:solidFill>
          <a:ln/>
        </p:spPr>
      </p:sp>
      <p:sp>
        <p:nvSpPr>
          <p:cNvPr id="5" name="Text 3"/>
          <p:cNvSpPr txBox="1"/>
          <p:nvPr/>
        </p:nvSpPr>
        <p:spPr>
          <a:xfrm>
            <a:off x="713232" y="1856232"/>
            <a:ext cx="2299716"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Student</a:t>
            </a:r>
            <a:endParaRPr lang="en-US" sz="1500" dirty="0"/>
          </a:p>
        </p:txBody>
      </p:sp>
      <p:sp>
        <p:nvSpPr>
          <p:cNvPr id="6" name="Text 4"/>
          <p:cNvSpPr txBox="1"/>
          <p:nvPr/>
        </p:nvSpPr>
        <p:spPr>
          <a:xfrm>
            <a:off x="713232" y="2350008"/>
            <a:ext cx="2299716" cy="1143000"/>
          </a:xfrm>
          <a:prstGeom prst="rect">
            <a:avLst/>
          </a:prstGeom>
          <a:noFill/>
          <a:ln/>
        </p:spPr>
        <p:txBody>
          <a:bodyPr wrap="square" lIns="0" tIns="0" rIns="0" bIns="0" rtlCol="0" anchor="ctr"/>
          <a:lstStyle/>
          <a:p>
            <a:pPr indent="0" marL="0">
              <a:lnSpc>
                <a:spcPct val="120000"/>
              </a:lnSpc>
              <a:buNone/>
            </a:pPr>
            <a:r>
              <a:rPr lang="en-US" sz="1100" dirty="0">
                <a:solidFill>
                  <a:srgbClr val="EFFBF9"/>
                </a:solidFill>
                <a:latin typeface="Calibri" pitchFamily="34" charset="0"/>
                <a:ea typeface="Calibri" pitchFamily="34" charset="-122"/>
                <a:cs typeface="Calibri" pitchFamily="34" charset="-120"/>
              </a:rPr>
              <a:t>Personal &amp; academic details, room assigned</a:t>
            </a:r>
            <a:endParaRPr lang="en-US" sz="1100" dirty="0"/>
          </a:p>
        </p:txBody>
      </p:sp>
      <p:sp>
        <p:nvSpPr>
          <p:cNvPr id="7" name="Shape 5"/>
          <p:cNvSpPr/>
          <p:nvPr/>
        </p:nvSpPr>
        <p:spPr>
          <a:xfrm>
            <a:off x="3360420" y="1691640"/>
            <a:ext cx="2628900" cy="1965960"/>
          </a:xfrm>
          <a:prstGeom prst="roundRect">
            <a:avLst>
              <a:gd name="adj" fmla="val 3721"/>
            </a:avLst>
          </a:prstGeom>
          <a:solidFill>
            <a:srgbClr val="028090"/>
          </a:solidFill>
          <a:ln/>
        </p:spPr>
      </p:sp>
      <p:sp>
        <p:nvSpPr>
          <p:cNvPr id="8" name="Text 6"/>
          <p:cNvSpPr txBox="1"/>
          <p:nvPr/>
        </p:nvSpPr>
        <p:spPr>
          <a:xfrm>
            <a:off x="3525012" y="1856232"/>
            <a:ext cx="2299716"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Room</a:t>
            </a:r>
            <a:endParaRPr lang="en-US" sz="1500" dirty="0"/>
          </a:p>
        </p:txBody>
      </p:sp>
      <p:sp>
        <p:nvSpPr>
          <p:cNvPr id="9" name="Text 7"/>
          <p:cNvSpPr txBox="1"/>
          <p:nvPr/>
        </p:nvSpPr>
        <p:spPr>
          <a:xfrm>
            <a:off x="3525012" y="2350008"/>
            <a:ext cx="2299716" cy="1143000"/>
          </a:xfrm>
          <a:prstGeom prst="rect">
            <a:avLst/>
          </a:prstGeom>
          <a:noFill/>
          <a:ln/>
        </p:spPr>
        <p:txBody>
          <a:bodyPr wrap="square" lIns="0" tIns="0" rIns="0" bIns="0" rtlCol="0" anchor="ctr"/>
          <a:lstStyle/>
          <a:p>
            <a:pPr indent="0" marL="0">
              <a:lnSpc>
                <a:spcPct val="120000"/>
              </a:lnSpc>
              <a:buNone/>
            </a:pPr>
            <a:r>
              <a:rPr lang="en-US" sz="1100" dirty="0">
                <a:solidFill>
                  <a:srgbClr val="EFFBF9"/>
                </a:solidFill>
                <a:latin typeface="Calibri" pitchFamily="34" charset="0"/>
                <a:ea typeface="Calibri" pitchFamily="34" charset="-122"/>
                <a:cs typeface="Calibri" pitchFamily="34" charset="-120"/>
              </a:rPr>
              <a:t>Room number, capacity, block, status</a:t>
            </a:r>
            <a:endParaRPr lang="en-US" sz="1100" dirty="0"/>
          </a:p>
        </p:txBody>
      </p:sp>
      <p:sp>
        <p:nvSpPr>
          <p:cNvPr id="10" name="Shape 8"/>
          <p:cNvSpPr/>
          <p:nvPr/>
        </p:nvSpPr>
        <p:spPr>
          <a:xfrm>
            <a:off x="6172200" y="1691640"/>
            <a:ext cx="2628900" cy="1965960"/>
          </a:xfrm>
          <a:prstGeom prst="roundRect">
            <a:avLst>
              <a:gd name="adj" fmla="val 3721"/>
            </a:avLst>
          </a:prstGeom>
          <a:solidFill>
            <a:srgbClr val="028090"/>
          </a:solidFill>
          <a:ln/>
        </p:spPr>
      </p:sp>
      <p:sp>
        <p:nvSpPr>
          <p:cNvPr id="11" name="Text 9"/>
          <p:cNvSpPr txBox="1"/>
          <p:nvPr/>
        </p:nvSpPr>
        <p:spPr>
          <a:xfrm>
            <a:off x="6336792" y="1856232"/>
            <a:ext cx="2299716"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Hostel / Block</a:t>
            </a:r>
            <a:endParaRPr lang="en-US" sz="1500" dirty="0"/>
          </a:p>
        </p:txBody>
      </p:sp>
      <p:sp>
        <p:nvSpPr>
          <p:cNvPr id="12" name="Text 10"/>
          <p:cNvSpPr txBox="1"/>
          <p:nvPr/>
        </p:nvSpPr>
        <p:spPr>
          <a:xfrm>
            <a:off x="6336792" y="2350008"/>
            <a:ext cx="2299716" cy="1143000"/>
          </a:xfrm>
          <a:prstGeom prst="rect">
            <a:avLst/>
          </a:prstGeom>
          <a:noFill/>
          <a:ln/>
        </p:spPr>
        <p:txBody>
          <a:bodyPr wrap="square" lIns="0" tIns="0" rIns="0" bIns="0" rtlCol="0" anchor="ctr"/>
          <a:lstStyle/>
          <a:p>
            <a:pPr indent="0" marL="0">
              <a:lnSpc>
                <a:spcPct val="120000"/>
              </a:lnSpc>
              <a:buNone/>
            </a:pPr>
            <a:r>
              <a:rPr lang="en-US" sz="1100" dirty="0">
                <a:solidFill>
                  <a:srgbClr val="EFFBF9"/>
                </a:solidFill>
                <a:latin typeface="Calibri" pitchFamily="34" charset="0"/>
                <a:ea typeface="Calibri" pitchFamily="34" charset="-122"/>
                <a:cs typeface="Calibri" pitchFamily="34" charset="-120"/>
              </a:rPr>
              <a:t>Block name, warden, total capacity</a:t>
            </a:r>
            <a:endParaRPr lang="en-US" sz="1100" dirty="0"/>
          </a:p>
        </p:txBody>
      </p:sp>
      <p:sp>
        <p:nvSpPr>
          <p:cNvPr id="13" name="Shape 11"/>
          <p:cNvSpPr/>
          <p:nvPr/>
        </p:nvSpPr>
        <p:spPr>
          <a:xfrm>
            <a:off x="8983980" y="1691640"/>
            <a:ext cx="2628900" cy="1965960"/>
          </a:xfrm>
          <a:prstGeom prst="roundRect">
            <a:avLst>
              <a:gd name="adj" fmla="val 3721"/>
            </a:avLst>
          </a:prstGeom>
          <a:solidFill>
            <a:srgbClr val="028090"/>
          </a:solidFill>
          <a:ln/>
        </p:spPr>
      </p:sp>
      <p:sp>
        <p:nvSpPr>
          <p:cNvPr id="14" name="Text 12"/>
          <p:cNvSpPr txBox="1"/>
          <p:nvPr/>
        </p:nvSpPr>
        <p:spPr>
          <a:xfrm>
            <a:off x="9148572" y="1856232"/>
            <a:ext cx="2299716"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Fee / Payment</a:t>
            </a:r>
            <a:endParaRPr lang="en-US" sz="1500" dirty="0"/>
          </a:p>
        </p:txBody>
      </p:sp>
      <p:sp>
        <p:nvSpPr>
          <p:cNvPr id="15" name="Text 13"/>
          <p:cNvSpPr txBox="1"/>
          <p:nvPr/>
        </p:nvSpPr>
        <p:spPr>
          <a:xfrm>
            <a:off x="9148572" y="2350008"/>
            <a:ext cx="2299716" cy="1143000"/>
          </a:xfrm>
          <a:prstGeom prst="rect">
            <a:avLst/>
          </a:prstGeom>
          <a:noFill/>
          <a:ln/>
        </p:spPr>
        <p:txBody>
          <a:bodyPr wrap="square" lIns="0" tIns="0" rIns="0" bIns="0" rtlCol="0" anchor="ctr"/>
          <a:lstStyle/>
          <a:p>
            <a:pPr indent="0" marL="0">
              <a:lnSpc>
                <a:spcPct val="120000"/>
              </a:lnSpc>
              <a:buNone/>
            </a:pPr>
            <a:r>
              <a:rPr lang="en-US" sz="1100" dirty="0">
                <a:solidFill>
                  <a:srgbClr val="EFFBF9"/>
                </a:solidFill>
                <a:latin typeface="Calibri" pitchFamily="34" charset="0"/>
                <a:ea typeface="Calibri" pitchFamily="34" charset="-122"/>
                <a:cs typeface="Calibri" pitchFamily="34" charset="-120"/>
              </a:rPr>
              <a:t>Amount, due date, payment status</a:t>
            </a:r>
            <a:endParaRPr lang="en-US" sz="1100" dirty="0"/>
          </a:p>
        </p:txBody>
      </p:sp>
      <p:sp>
        <p:nvSpPr>
          <p:cNvPr id="16" name="Shape 14"/>
          <p:cNvSpPr/>
          <p:nvPr/>
        </p:nvSpPr>
        <p:spPr>
          <a:xfrm>
            <a:off x="548640" y="3886200"/>
            <a:ext cx="2628900" cy="1965960"/>
          </a:xfrm>
          <a:prstGeom prst="roundRect">
            <a:avLst>
              <a:gd name="adj" fmla="val 3721"/>
            </a:avLst>
          </a:prstGeom>
          <a:solidFill>
            <a:srgbClr val="00A896"/>
          </a:solidFill>
          <a:ln/>
        </p:spPr>
      </p:sp>
      <p:sp>
        <p:nvSpPr>
          <p:cNvPr id="17" name="Text 15"/>
          <p:cNvSpPr txBox="1"/>
          <p:nvPr/>
        </p:nvSpPr>
        <p:spPr>
          <a:xfrm>
            <a:off x="713232" y="4050792"/>
            <a:ext cx="2299716"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Complaint</a:t>
            </a:r>
            <a:endParaRPr lang="en-US" sz="1500" dirty="0"/>
          </a:p>
        </p:txBody>
      </p:sp>
      <p:sp>
        <p:nvSpPr>
          <p:cNvPr id="18" name="Text 16"/>
          <p:cNvSpPr txBox="1"/>
          <p:nvPr/>
        </p:nvSpPr>
        <p:spPr>
          <a:xfrm>
            <a:off x="713232" y="4544568"/>
            <a:ext cx="2299716" cy="1143000"/>
          </a:xfrm>
          <a:prstGeom prst="rect">
            <a:avLst/>
          </a:prstGeom>
          <a:noFill/>
          <a:ln/>
        </p:spPr>
        <p:txBody>
          <a:bodyPr wrap="square" lIns="0" tIns="0" rIns="0" bIns="0" rtlCol="0" anchor="ctr"/>
          <a:lstStyle/>
          <a:p>
            <a:pPr indent="0" marL="0">
              <a:lnSpc>
                <a:spcPct val="120000"/>
              </a:lnSpc>
              <a:buNone/>
            </a:pPr>
            <a:r>
              <a:rPr lang="en-US" sz="1100" dirty="0">
                <a:solidFill>
                  <a:srgbClr val="EFFBF9"/>
                </a:solidFill>
                <a:latin typeface="Calibri" pitchFamily="34" charset="0"/>
                <a:ea typeface="Calibri" pitchFamily="34" charset="-122"/>
                <a:cs typeface="Calibri" pitchFamily="34" charset="-120"/>
              </a:rPr>
              <a:t>Type, description, status, date raised</a:t>
            </a:r>
            <a:endParaRPr lang="en-US" sz="1100" dirty="0"/>
          </a:p>
        </p:txBody>
      </p:sp>
      <p:sp>
        <p:nvSpPr>
          <p:cNvPr id="19" name="Shape 17"/>
          <p:cNvSpPr/>
          <p:nvPr/>
        </p:nvSpPr>
        <p:spPr>
          <a:xfrm>
            <a:off x="3360420" y="3886200"/>
            <a:ext cx="2628900" cy="1965960"/>
          </a:xfrm>
          <a:prstGeom prst="roundRect">
            <a:avLst>
              <a:gd name="adj" fmla="val 3721"/>
            </a:avLst>
          </a:prstGeom>
          <a:solidFill>
            <a:srgbClr val="00A896"/>
          </a:solidFill>
          <a:ln/>
        </p:spPr>
      </p:sp>
      <p:sp>
        <p:nvSpPr>
          <p:cNvPr id="20" name="Text 18"/>
          <p:cNvSpPr txBox="1"/>
          <p:nvPr/>
        </p:nvSpPr>
        <p:spPr>
          <a:xfrm>
            <a:off x="3525012" y="4050792"/>
            <a:ext cx="2299716"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Staff / Warden</a:t>
            </a:r>
            <a:endParaRPr lang="en-US" sz="1500" dirty="0"/>
          </a:p>
        </p:txBody>
      </p:sp>
      <p:sp>
        <p:nvSpPr>
          <p:cNvPr id="21" name="Text 19"/>
          <p:cNvSpPr txBox="1"/>
          <p:nvPr/>
        </p:nvSpPr>
        <p:spPr>
          <a:xfrm>
            <a:off x="3525012" y="4544568"/>
            <a:ext cx="2299716" cy="1143000"/>
          </a:xfrm>
          <a:prstGeom prst="rect">
            <a:avLst/>
          </a:prstGeom>
          <a:noFill/>
          <a:ln/>
        </p:spPr>
        <p:txBody>
          <a:bodyPr wrap="square" lIns="0" tIns="0" rIns="0" bIns="0" rtlCol="0" anchor="ctr"/>
          <a:lstStyle/>
          <a:p>
            <a:pPr indent="0" marL="0">
              <a:lnSpc>
                <a:spcPct val="120000"/>
              </a:lnSpc>
              <a:buNone/>
            </a:pPr>
            <a:r>
              <a:rPr lang="en-US" sz="1100" dirty="0">
                <a:solidFill>
                  <a:srgbClr val="EFFBF9"/>
                </a:solidFill>
                <a:latin typeface="Calibri" pitchFamily="34" charset="0"/>
                <a:ea typeface="Calibri" pitchFamily="34" charset="-122"/>
                <a:cs typeface="Calibri" pitchFamily="34" charset="-120"/>
              </a:rPr>
              <a:t>Name, role, assigned block</a:t>
            </a:r>
            <a:endParaRPr lang="en-US" sz="1100" dirty="0"/>
          </a:p>
        </p:txBody>
      </p:sp>
      <p:sp>
        <p:nvSpPr>
          <p:cNvPr id="22" name="Shape 20"/>
          <p:cNvSpPr/>
          <p:nvPr/>
        </p:nvSpPr>
        <p:spPr>
          <a:xfrm>
            <a:off x="6172200" y="3886200"/>
            <a:ext cx="2628900" cy="1965960"/>
          </a:xfrm>
          <a:prstGeom prst="roundRect">
            <a:avLst>
              <a:gd name="adj" fmla="val 3721"/>
            </a:avLst>
          </a:prstGeom>
          <a:solidFill>
            <a:srgbClr val="00A896"/>
          </a:solidFill>
          <a:ln/>
        </p:spPr>
      </p:sp>
      <p:sp>
        <p:nvSpPr>
          <p:cNvPr id="23" name="Text 21"/>
          <p:cNvSpPr txBox="1"/>
          <p:nvPr/>
        </p:nvSpPr>
        <p:spPr>
          <a:xfrm>
            <a:off x="6336792" y="4050792"/>
            <a:ext cx="2299716"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Mess</a:t>
            </a:r>
            <a:endParaRPr lang="en-US" sz="1500" dirty="0"/>
          </a:p>
        </p:txBody>
      </p:sp>
      <p:sp>
        <p:nvSpPr>
          <p:cNvPr id="24" name="Text 22"/>
          <p:cNvSpPr txBox="1"/>
          <p:nvPr/>
        </p:nvSpPr>
        <p:spPr>
          <a:xfrm>
            <a:off x="6336792" y="4544568"/>
            <a:ext cx="2299716" cy="1143000"/>
          </a:xfrm>
          <a:prstGeom prst="rect">
            <a:avLst/>
          </a:prstGeom>
          <a:noFill/>
          <a:ln/>
        </p:spPr>
        <p:txBody>
          <a:bodyPr wrap="square" lIns="0" tIns="0" rIns="0" bIns="0" rtlCol="0" anchor="ctr"/>
          <a:lstStyle/>
          <a:p>
            <a:pPr indent="0" marL="0">
              <a:lnSpc>
                <a:spcPct val="120000"/>
              </a:lnSpc>
              <a:buNone/>
            </a:pPr>
            <a:r>
              <a:rPr lang="en-US" sz="1100" dirty="0">
                <a:solidFill>
                  <a:srgbClr val="EFFBF9"/>
                </a:solidFill>
                <a:latin typeface="Calibri" pitchFamily="34" charset="0"/>
                <a:ea typeface="Calibri" pitchFamily="34" charset="-122"/>
                <a:cs typeface="Calibri" pitchFamily="34" charset="-120"/>
              </a:rPr>
              <a:t>Meal plan, attendance, monthly charges</a:t>
            </a:r>
            <a:endParaRPr lang="en-US" sz="1100" dirty="0"/>
          </a:p>
        </p:txBody>
      </p:sp>
      <p:sp>
        <p:nvSpPr>
          <p:cNvPr id="25" name="Shape 23"/>
          <p:cNvSpPr/>
          <p:nvPr/>
        </p:nvSpPr>
        <p:spPr>
          <a:xfrm>
            <a:off x="8983980" y="3886200"/>
            <a:ext cx="2628900" cy="1965960"/>
          </a:xfrm>
          <a:prstGeom prst="roundRect">
            <a:avLst>
              <a:gd name="adj" fmla="val 3721"/>
            </a:avLst>
          </a:prstGeom>
          <a:solidFill>
            <a:srgbClr val="00A896"/>
          </a:solidFill>
          <a:ln/>
        </p:spPr>
      </p:sp>
      <p:sp>
        <p:nvSpPr>
          <p:cNvPr id="26" name="Text 24"/>
          <p:cNvSpPr txBox="1"/>
          <p:nvPr/>
        </p:nvSpPr>
        <p:spPr>
          <a:xfrm>
            <a:off x="9148572" y="4050792"/>
            <a:ext cx="2299716"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Visitor</a:t>
            </a:r>
            <a:endParaRPr lang="en-US" sz="1500" dirty="0"/>
          </a:p>
        </p:txBody>
      </p:sp>
      <p:sp>
        <p:nvSpPr>
          <p:cNvPr id="27" name="Text 25"/>
          <p:cNvSpPr txBox="1"/>
          <p:nvPr/>
        </p:nvSpPr>
        <p:spPr>
          <a:xfrm>
            <a:off x="9148572" y="4544568"/>
            <a:ext cx="2299716" cy="1143000"/>
          </a:xfrm>
          <a:prstGeom prst="rect">
            <a:avLst/>
          </a:prstGeom>
          <a:noFill/>
          <a:ln/>
        </p:spPr>
        <p:txBody>
          <a:bodyPr wrap="square" lIns="0" tIns="0" rIns="0" bIns="0" rtlCol="0" anchor="ctr"/>
          <a:lstStyle/>
          <a:p>
            <a:pPr indent="0" marL="0">
              <a:lnSpc>
                <a:spcPct val="120000"/>
              </a:lnSpc>
              <a:buNone/>
            </a:pPr>
            <a:r>
              <a:rPr lang="en-US" sz="1100" dirty="0">
                <a:solidFill>
                  <a:srgbClr val="EFFBF9"/>
                </a:solidFill>
                <a:latin typeface="Calibri" pitchFamily="34" charset="0"/>
                <a:ea typeface="Calibri" pitchFamily="34" charset="-122"/>
                <a:cs typeface="Calibri" pitchFamily="34" charset="-120"/>
              </a:rPr>
              <a:t>Visitor name, purpose, entry/exit time</a:t>
            </a:r>
            <a:endParaRPr lang="en-US" sz="1100" dirty="0"/>
          </a:p>
        </p:txBody>
      </p:sp>
      <p:sp>
        <p:nvSpPr>
          <p:cNvPr id="28" name="Text 26"/>
          <p:cNvSpPr/>
          <p:nvPr/>
        </p:nvSpPr>
        <p:spPr>
          <a:xfrm>
            <a:off x="457200" y="6537960"/>
            <a:ext cx="5486400" cy="274320"/>
          </a:xfrm>
          <a:prstGeom prst="rect">
            <a:avLst/>
          </a:prstGeom>
          <a:noFill/>
          <a:ln/>
        </p:spPr>
        <p:txBody>
          <a:bodyPr wrap="square" lIns="0" tIns="0" rIns="0" bIns="0" rtlCol="0" anchor="ctr"/>
          <a:lstStyle/>
          <a:p>
            <a:pPr algn="l" indent="0" marL="0">
              <a:buNone/>
            </a:pPr>
            <a:r>
              <a:rPr lang="en-US" sz="1000" dirty="0">
                <a:solidFill>
                  <a:srgbClr val="5B7370"/>
                </a:solidFill>
                <a:latin typeface="Calibri" pitchFamily="34" charset="0"/>
                <a:ea typeface="Calibri" pitchFamily="34" charset="-122"/>
                <a:cs typeface="Calibri" pitchFamily="34" charset="-120"/>
              </a:rPr>
              <a:t>Hostel Accommodation &amp; Student Services DBMS</a:t>
            </a:r>
            <a:endParaRPr lang="en-US" sz="1000" dirty="0"/>
          </a:p>
        </p:txBody>
      </p:sp>
      <p:sp>
        <p:nvSpPr>
          <p:cNvPr id="29" name="Text 27"/>
          <p:cNvSpPr/>
          <p:nvPr/>
        </p:nvSpPr>
        <p:spPr>
          <a:xfrm>
            <a:off x="11247120" y="6537960"/>
            <a:ext cx="457200" cy="274320"/>
          </a:xfrm>
          <a:prstGeom prst="rect">
            <a:avLst/>
          </a:prstGeom>
          <a:noFill/>
          <a:ln/>
        </p:spPr>
        <p:txBody>
          <a:bodyPr wrap="square" lIns="0" tIns="0" rIns="0" bIns="0" rtlCol="0" anchor="ctr"/>
          <a:lstStyle/>
          <a:p>
            <a:pPr algn="r" indent="0" marL="0">
              <a:buNone/>
            </a:pPr>
            <a:r>
              <a:rPr lang="en-US" sz="1000" dirty="0">
                <a:solidFill>
                  <a:srgbClr val="5B737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548640"/>
          </a:xfrm>
          <a:prstGeom prst="rect">
            <a:avLst/>
          </a:prstGeom>
          <a:noFill/>
          <a:ln/>
        </p:spPr>
        <p:txBody>
          <a:bodyPr wrap="square" lIns="0" tIns="0" rIns="0" bIns="0" rtlCol="0" anchor="ctr"/>
          <a:lstStyle/>
          <a:p>
            <a:pPr indent="0" marL="0">
              <a:buNone/>
            </a:pPr>
            <a:r>
              <a:rPr lang="en-US" sz="3200" b="1" dirty="0">
                <a:solidFill>
                  <a:srgbClr val="013A40"/>
                </a:solidFill>
                <a:latin typeface="Cambria" pitchFamily="34" charset="0"/>
                <a:ea typeface="Cambria" pitchFamily="34" charset="-122"/>
                <a:cs typeface="Cambria" pitchFamily="34" charset="-120"/>
              </a:rPr>
              <a:t>Preliminary ER Diagram</a:t>
            </a:r>
            <a:endParaRPr lang="en-US" sz="3200" dirty="0"/>
          </a:p>
        </p:txBody>
      </p:sp>
      <p:sp>
        <p:nvSpPr>
          <p:cNvPr id="3" name="Text 1"/>
          <p:cNvSpPr txBox="1"/>
          <p:nvPr/>
        </p:nvSpPr>
        <p:spPr>
          <a:xfrm>
            <a:off x="548640" y="868680"/>
            <a:ext cx="10058400" cy="365760"/>
          </a:xfrm>
          <a:prstGeom prst="rect">
            <a:avLst/>
          </a:prstGeom>
          <a:noFill/>
          <a:ln/>
        </p:spPr>
        <p:txBody>
          <a:bodyPr wrap="square" lIns="0" tIns="0" rIns="0" bIns="0" rtlCol="0" anchor="ctr"/>
          <a:lstStyle/>
          <a:p>
            <a:pPr indent="0" marL="0">
              <a:buNone/>
            </a:pPr>
            <a:r>
              <a:rPr lang="en-US" sz="1300" i="1" dirty="0">
                <a:solidFill>
                  <a:srgbClr val="5B7370"/>
                </a:solidFill>
                <a:latin typeface="Calibri" pitchFamily="34" charset="0"/>
                <a:ea typeface="Calibri" pitchFamily="34" charset="-122"/>
                <a:cs typeface="Calibri" pitchFamily="34" charset="-120"/>
              </a:rPr>
              <a:t>High-level relationships between core entities (to be normalized in Presentation 2)</a:t>
            </a:r>
            <a:endParaRPr lang="en-US" sz="1300" dirty="0"/>
          </a:p>
        </p:txBody>
      </p:sp>
      <p:sp>
        <p:nvSpPr>
          <p:cNvPr id="4" name="Shape 2"/>
          <p:cNvSpPr/>
          <p:nvPr/>
        </p:nvSpPr>
        <p:spPr>
          <a:xfrm>
            <a:off x="2651760" y="2400300"/>
            <a:ext cx="2468880" cy="1143000"/>
          </a:xfrm>
          <a:prstGeom prst="line">
            <a:avLst/>
          </a:prstGeom>
          <a:noFill/>
          <a:ln w="19050">
            <a:solidFill>
              <a:srgbClr val="5B7370"/>
            </a:solidFill>
            <a:prstDash val="solid"/>
          </a:ln>
        </p:spPr>
      </p:sp>
      <p:sp>
        <p:nvSpPr>
          <p:cNvPr id="5" name="Shape 3"/>
          <p:cNvSpPr/>
          <p:nvPr/>
        </p:nvSpPr>
        <p:spPr>
          <a:xfrm>
            <a:off x="3383280" y="2834640"/>
            <a:ext cx="1005840" cy="274320"/>
          </a:xfrm>
          <a:prstGeom prst="rect">
            <a:avLst/>
          </a:prstGeom>
          <a:solidFill>
            <a:srgbClr val="FFFFFF"/>
          </a:solidFill>
          <a:ln/>
        </p:spPr>
      </p:sp>
      <p:sp>
        <p:nvSpPr>
          <p:cNvPr id="6" name="Text 4"/>
          <p:cNvSpPr txBox="1"/>
          <p:nvPr/>
        </p:nvSpPr>
        <p:spPr>
          <a:xfrm>
            <a:off x="3383280" y="2834640"/>
            <a:ext cx="1005840" cy="274320"/>
          </a:xfrm>
          <a:prstGeom prst="rect">
            <a:avLst/>
          </a:prstGeom>
          <a:noFill/>
          <a:ln/>
        </p:spPr>
        <p:txBody>
          <a:bodyPr wrap="square" lIns="0" tIns="0" rIns="0" bIns="0" rtlCol="0" anchor="ctr"/>
          <a:lstStyle/>
          <a:p>
            <a:pPr algn="ctr" indent="0" marL="0">
              <a:buNone/>
            </a:pPr>
            <a:r>
              <a:rPr lang="en-US" sz="900" i="1" dirty="0">
                <a:solidFill>
                  <a:srgbClr val="5B7370"/>
                </a:solidFill>
                <a:latin typeface="Calibri" pitchFamily="34" charset="0"/>
                <a:ea typeface="Calibri" pitchFamily="34" charset="-122"/>
                <a:cs typeface="Calibri" pitchFamily="34" charset="-120"/>
              </a:rPr>
              <a:t>allotted to</a:t>
            </a:r>
            <a:endParaRPr lang="en-US" sz="900" dirty="0"/>
          </a:p>
        </p:txBody>
      </p:sp>
      <p:sp>
        <p:nvSpPr>
          <p:cNvPr id="7" name="Shape 5"/>
          <p:cNvSpPr/>
          <p:nvPr/>
        </p:nvSpPr>
        <p:spPr>
          <a:xfrm flipV="1">
            <a:off x="1783080" y="2697480"/>
            <a:ext cx="0" cy="1828800"/>
          </a:xfrm>
          <a:prstGeom prst="line">
            <a:avLst/>
          </a:prstGeom>
          <a:noFill/>
          <a:ln w="19050">
            <a:solidFill>
              <a:srgbClr val="5B7370"/>
            </a:solidFill>
            <a:prstDash val="solid"/>
          </a:ln>
        </p:spPr>
      </p:sp>
      <p:sp>
        <p:nvSpPr>
          <p:cNvPr id="8" name="Shape 6"/>
          <p:cNvSpPr/>
          <p:nvPr/>
        </p:nvSpPr>
        <p:spPr>
          <a:xfrm>
            <a:off x="1280160" y="3474720"/>
            <a:ext cx="1005840" cy="274320"/>
          </a:xfrm>
          <a:prstGeom prst="rect">
            <a:avLst/>
          </a:prstGeom>
          <a:solidFill>
            <a:srgbClr val="FFFFFF"/>
          </a:solidFill>
          <a:ln/>
        </p:spPr>
      </p:sp>
      <p:sp>
        <p:nvSpPr>
          <p:cNvPr id="9" name="Text 7"/>
          <p:cNvSpPr txBox="1"/>
          <p:nvPr/>
        </p:nvSpPr>
        <p:spPr>
          <a:xfrm>
            <a:off x="1280160" y="3474720"/>
            <a:ext cx="1005840" cy="274320"/>
          </a:xfrm>
          <a:prstGeom prst="rect">
            <a:avLst/>
          </a:prstGeom>
          <a:noFill/>
          <a:ln/>
        </p:spPr>
        <p:txBody>
          <a:bodyPr wrap="square" lIns="0" tIns="0" rIns="0" bIns="0" rtlCol="0" anchor="ctr"/>
          <a:lstStyle/>
          <a:p>
            <a:pPr algn="ctr" indent="0" marL="0">
              <a:buNone/>
            </a:pPr>
            <a:r>
              <a:rPr lang="en-US" sz="900" i="1" dirty="0">
                <a:solidFill>
                  <a:srgbClr val="5B7370"/>
                </a:solidFill>
                <a:latin typeface="Calibri" pitchFamily="34" charset="0"/>
                <a:ea typeface="Calibri" pitchFamily="34" charset="-122"/>
                <a:cs typeface="Calibri" pitchFamily="34" charset="-120"/>
              </a:rPr>
              <a:t>belongs to</a:t>
            </a:r>
            <a:endParaRPr lang="en-US" sz="900" dirty="0"/>
          </a:p>
        </p:txBody>
      </p:sp>
      <p:sp>
        <p:nvSpPr>
          <p:cNvPr id="10" name="Shape 8"/>
          <p:cNvSpPr/>
          <p:nvPr/>
        </p:nvSpPr>
        <p:spPr>
          <a:xfrm flipV="1">
            <a:off x="7132320" y="1988820"/>
            <a:ext cx="1737360" cy="1554480"/>
          </a:xfrm>
          <a:prstGeom prst="line">
            <a:avLst/>
          </a:prstGeom>
          <a:noFill/>
          <a:ln w="19050">
            <a:solidFill>
              <a:srgbClr val="5B7370"/>
            </a:solidFill>
            <a:prstDash val="solid"/>
          </a:ln>
        </p:spPr>
      </p:sp>
      <p:sp>
        <p:nvSpPr>
          <p:cNvPr id="11" name="Shape 9"/>
          <p:cNvSpPr/>
          <p:nvPr/>
        </p:nvSpPr>
        <p:spPr>
          <a:xfrm>
            <a:off x="7498080" y="2628900"/>
            <a:ext cx="1005840" cy="274320"/>
          </a:xfrm>
          <a:prstGeom prst="rect">
            <a:avLst/>
          </a:prstGeom>
          <a:solidFill>
            <a:srgbClr val="FFFFFF"/>
          </a:solidFill>
          <a:ln/>
        </p:spPr>
      </p:sp>
      <p:sp>
        <p:nvSpPr>
          <p:cNvPr id="12" name="Text 10"/>
          <p:cNvSpPr txBox="1"/>
          <p:nvPr/>
        </p:nvSpPr>
        <p:spPr>
          <a:xfrm>
            <a:off x="7498080" y="2628900"/>
            <a:ext cx="1005840" cy="274320"/>
          </a:xfrm>
          <a:prstGeom prst="rect">
            <a:avLst/>
          </a:prstGeom>
          <a:noFill/>
          <a:ln/>
        </p:spPr>
        <p:txBody>
          <a:bodyPr wrap="square" lIns="0" tIns="0" rIns="0" bIns="0" rtlCol="0" anchor="ctr"/>
          <a:lstStyle/>
          <a:p>
            <a:pPr algn="ctr" indent="0" marL="0">
              <a:buNone/>
            </a:pPr>
            <a:r>
              <a:rPr lang="en-US" sz="900" i="1" dirty="0">
                <a:solidFill>
                  <a:srgbClr val="5B7370"/>
                </a:solidFill>
                <a:latin typeface="Calibri" pitchFamily="34" charset="0"/>
                <a:ea typeface="Calibri" pitchFamily="34" charset="-122"/>
                <a:cs typeface="Calibri" pitchFamily="34" charset="-120"/>
              </a:rPr>
              <a:t>pays</a:t>
            </a:r>
            <a:endParaRPr lang="en-US" sz="900" dirty="0"/>
          </a:p>
        </p:txBody>
      </p:sp>
      <p:sp>
        <p:nvSpPr>
          <p:cNvPr id="13" name="Shape 11"/>
          <p:cNvSpPr/>
          <p:nvPr/>
        </p:nvSpPr>
        <p:spPr>
          <a:xfrm flipV="1">
            <a:off x="7132320" y="3543300"/>
            <a:ext cx="1737360" cy="118872"/>
          </a:xfrm>
          <a:prstGeom prst="line">
            <a:avLst/>
          </a:prstGeom>
          <a:noFill/>
          <a:ln w="19050">
            <a:solidFill>
              <a:srgbClr val="5B7370"/>
            </a:solidFill>
            <a:prstDash val="solid"/>
          </a:ln>
        </p:spPr>
      </p:sp>
      <p:sp>
        <p:nvSpPr>
          <p:cNvPr id="14" name="Shape 12"/>
          <p:cNvSpPr/>
          <p:nvPr/>
        </p:nvSpPr>
        <p:spPr>
          <a:xfrm>
            <a:off x="7498080" y="3465576"/>
            <a:ext cx="1005840" cy="274320"/>
          </a:xfrm>
          <a:prstGeom prst="rect">
            <a:avLst/>
          </a:prstGeom>
          <a:solidFill>
            <a:srgbClr val="FFFFFF"/>
          </a:solidFill>
          <a:ln/>
        </p:spPr>
      </p:sp>
      <p:sp>
        <p:nvSpPr>
          <p:cNvPr id="15" name="Text 13"/>
          <p:cNvSpPr txBox="1"/>
          <p:nvPr/>
        </p:nvSpPr>
        <p:spPr>
          <a:xfrm>
            <a:off x="7498080" y="3465576"/>
            <a:ext cx="1005840" cy="274320"/>
          </a:xfrm>
          <a:prstGeom prst="rect">
            <a:avLst/>
          </a:prstGeom>
          <a:noFill/>
          <a:ln/>
        </p:spPr>
        <p:txBody>
          <a:bodyPr wrap="square" lIns="0" tIns="0" rIns="0" bIns="0" rtlCol="0" anchor="ctr"/>
          <a:lstStyle/>
          <a:p>
            <a:pPr algn="ctr" indent="0" marL="0">
              <a:buNone/>
            </a:pPr>
            <a:r>
              <a:rPr lang="en-US" sz="900" i="1" dirty="0">
                <a:solidFill>
                  <a:srgbClr val="5B7370"/>
                </a:solidFill>
                <a:latin typeface="Calibri" pitchFamily="34" charset="0"/>
                <a:ea typeface="Calibri" pitchFamily="34" charset="-122"/>
                <a:cs typeface="Calibri" pitchFamily="34" charset="-120"/>
              </a:rPr>
              <a:t>raises</a:t>
            </a:r>
            <a:endParaRPr lang="en-US" sz="900" dirty="0"/>
          </a:p>
        </p:txBody>
      </p:sp>
      <p:sp>
        <p:nvSpPr>
          <p:cNvPr id="16" name="Shape 14"/>
          <p:cNvSpPr/>
          <p:nvPr/>
        </p:nvSpPr>
        <p:spPr>
          <a:xfrm>
            <a:off x="7132320" y="3840480"/>
            <a:ext cx="1737360" cy="1257300"/>
          </a:xfrm>
          <a:prstGeom prst="line">
            <a:avLst/>
          </a:prstGeom>
          <a:noFill/>
          <a:ln w="19050">
            <a:solidFill>
              <a:srgbClr val="5B7370"/>
            </a:solidFill>
            <a:prstDash val="solid"/>
          </a:ln>
        </p:spPr>
      </p:sp>
      <p:sp>
        <p:nvSpPr>
          <p:cNvPr id="17" name="Shape 15"/>
          <p:cNvSpPr/>
          <p:nvPr/>
        </p:nvSpPr>
        <p:spPr>
          <a:xfrm>
            <a:off x="7498080" y="4331970"/>
            <a:ext cx="1005840" cy="274320"/>
          </a:xfrm>
          <a:prstGeom prst="rect">
            <a:avLst/>
          </a:prstGeom>
          <a:solidFill>
            <a:srgbClr val="FFFFFF"/>
          </a:solidFill>
          <a:ln/>
        </p:spPr>
      </p:sp>
      <p:sp>
        <p:nvSpPr>
          <p:cNvPr id="18" name="Text 16"/>
          <p:cNvSpPr txBox="1"/>
          <p:nvPr/>
        </p:nvSpPr>
        <p:spPr>
          <a:xfrm>
            <a:off x="7498080" y="4331970"/>
            <a:ext cx="1005840" cy="274320"/>
          </a:xfrm>
          <a:prstGeom prst="rect">
            <a:avLst/>
          </a:prstGeom>
          <a:noFill/>
          <a:ln/>
        </p:spPr>
        <p:txBody>
          <a:bodyPr wrap="square" lIns="0" tIns="0" rIns="0" bIns="0" rtlCol="0" anchor="ctr"/>
          <a:lstStyle/>
          <a:p>
            <a:pPr algn="ctr" indent="0" marL="0">
              <a:buNone/>
            </a:pPr>
            <a:r>
              <a:rPr lang="en-US" sz="900" i="1" dirty="0">
                <a:solidFill>
                  <a:srgbClr val="5B7370"/>
                </a:solidFill>
                <a:latin typeface="Calibri" pitchFamily="34" charset="0"/>
                <a:ea typeface="Calibri" pitchFamily="34" charset="-122"/>
                <a:cs typeface="Calibri" pitchFamily="34" charset="-120"/>
              </a:rPr>
              <a:t>subscribes to</a:t>
            </a:r>
            <a:endParaRPr lang="en-US" sz="900" dirty="0"/>
          </a:p>
        </p:txBody>
      </p:sp>
      <p:sp>
        <p:nvSpPr>
          <p:cNvPr id="19" name="Shape 17"/>
          <p:cNvSpPr/>
          <p:nvPr/>
        </p:nvSpPr>
        <p:spPr>
          <a:xfrm flipV="1">
            <a:off x="6126480" y="3840480"/>
            <a:ext cx="0" cy="1508760"/>
          </a:xfrm>
          <a:prstGeom prst="line">
            <a:avLst/>
          </a:prstGeom>
          <a:noFill/>
          <a:ln w="19050">
            <a:solidFill>
              <a:srgbClr val="5B7370"/>
            </a:solidFill>
            <a:prstDash val="solid"/>
          </a:ln>
        </p:spPr>
      </p:sp>
      <p:sp>
        <p:nvSpPr>
          <p:cNvPr id="20" name="Shape 18"/>
          <p:cNvSpPr/>
          <p:nvPr/>
        </p:nvSpPr>
        <p:spPr>
          <a:xfrm>
            <a:off x="5623560" y="4457700"/>
            <a:ext cx="1005840" cy="274320"/>
          </a:xfrm>
          <a:prstGeom prst="rect">
            <a:avLst/>
          </a:prstGeom>
          <a:solidFill>
            <a:srgbClr val="FFFFFF"/>
          </a:solidFill>
          <a:ln/>
        </p:spPr>
      </p:sp>
      <p:sp>
        <p:nvSpPr>
          <p:cNvPr id="21" name="Text 19"/>
          <p:cNvSpPr txBox="1"/>
          <p:nvPr/>
        </p:nvSpPr>
        <p:spPr>
          <a:xfrm>
            <a:off x="5623560" y="4457700"/>
            <a:ext cx="1005840" cy="274320"/>
          </a:xfrm>
          <a:prstGeom prst="rect">
            <a:avLst/>
          </a:prstGeom>
          <a:noFill/>
          <a:ln/>
        </p:spPr>
        <p:txBody>
          <a:bodyPr wrap="square" lIns="0" tIns="0" rIns="0" bIns="0" rtlCol="0" anchor="ctr"/>
          <a:lstStyle/>
          <a:p>
            <a:pPr algn="ctr" indent="0" marL="0">
              <a:buNone/>
            </a:pPr>
            <a:r>
              <a:rPr lang="en-US" sz="900" i="1" dirty="0">
                <a:solidFill>
                  <a:srgbClr val="5B7370"/>
                </a:solidFill>
                <a:latin typeface="Calibri" pitchFamily="34" charset="0"/>
                <a:ea typeface="Calibri" pitchFamily="34" charset="-122"/>
                <a:cs typeface="Calibri" pitchFamily="34" charset="-120"/>
              </a:rPr>
              <a:t>managed by</a:t>
            </a:r>
            <a:endParaRPr lang="en-US" sz="900" dirty="0"/>
          </a:p>
        </p:txBody>
      </p:sp>
      <p:sp>
        <p:nvSpPr>
          <p:cNvPr id="22" name="Shape 20"/>
          <p:cNvSpPr/>
          <p:nvPr/>
        </p:nvSpPr>
        <p:spPr>
          <a:xfrm flipV="1">
            <a:off x="6126480" y="2011680"/>
            <a:ext cx="0" cy="1234440"/>
          </a:xfrm>
          <a:prstGeom prst="line">
            <a:avLst/>
          </a:prstGeom>
          <a:noFill/>
          <a:ln w="19050">
            <a:solidFill>
              <a:srgbClr val="5B7370"/>
            </a:solidFill>
            <a:prstDash val="solid"/>
          </a:ln>
        </p:spPr>
      </p:sp>
      <p:sp>
        <p:nvSpPr>
          <p:cNvPr id="23" name="Shape 21"/>
          <p:cNvSpPr/>
          <p:nvPr/>
        </p:nvSpPr>
        <p:spPr>
          <a:xfrm>
            <a:off x="5623560" y="2491740"/>
            <a:ext cx="1005840" cy="274320"/>
          </a:xfrm>
          <a:prstGeom prst="rect">
            <a:avLst/>
          </a:prstGeom>
          <a:solidFill>
            <a:srgbClr val="FFFFFF"/>
          </a:solidFill>
          <a:ln/>
        </p:spPr>
      </p:sp>
      <p:sp>
        <p:nvSpPr>
          <p:cNvPr id="24" name="Text 22"/>
          <p:cNvSpPr txBox="1"/>
          <p:nvPr/>
        </p:nvSpPr>
        <p:spPr>
          <a:xfrm>
            <a:off x="5623560" y="2491740"/>
            <a:ext cx="1005840" cy="274320"/>
          </a:xfrm>
          <a:prstGeom prst="rect">
            <a:avLst/>
          </a:prstGeom>
          <a:noFill/>
          <a:ln/>
        </p:spPr>
        <p:txBody>
          <a:bodyPr wrap="square" lIns="0" tIns="0" rIns="0" bIns="0" rtlCol="0" anchor="ctr"/>
          <a:lstStyle/>
          <a:p>
            <a:pPr algn="ctr" indent="0" marL="0">
              <a:buNone/>
            </a:pPr>
            <a:r>
              <a:rPr lang="en-US" sz="900" i="1" dirty="0">
                <a:solidFill>
                  <a:srgbClr val="5B7370"/>
                </a:solidFill>
                <a:latin typeface="Calibri" pitchFamily="34" charset="0"/>
                <a:ea typeface="Calibri" pitchFamily="34" charset="-122"/>
                <a:cs typeface="Calibri" pitchFamily="34" charset="-120"/>
              </a:rPr>
              <a:t>receives</a:t>
            </a:r>
            <a:endParaRPr lang="en-US" sz="900" dirty="0"/>
          </a:p>
        </p:txBody>
      </p:sp>
      <p:sp>
        <p:nvSpPr>
          <p:cNvPr id="25" name="Shape 23"/>
          <p:cNvSpPr/>
          <p:nvPr/>
        </p:nvSpPr>
        <p:spPr>
          <a:xfrm>
            <a:off x="2651760" y="4823460"/>
            <a:ext cx="2468880" cy="822960"/>
          </a:xfrm>
          <a:prstGeom prst="line">
            <a:avLst/>
          </a:prstGeom>
          <a:noFill/>
          <a:ln w="19050">
            <a:solidFill>
              <a:srgbClr val="5B7370"/>
            </a:solidFill>
            <a:prstDash val="solid"/>
          </a:ln>
        </p:spPr>
      </p:sp>
      <p:sp>
        <p:nvSpPr>
          <p:cNvPr id="26" name="Shape 24"/>
          <p:cNvSpPr/>
          <p:nvPr/>
        </p:nvSpPr>
        <p:spPr>
          <a:xfrm>
            <a:off x="3383280" y="5097780"/>
            <a:ext cx="1005840" cy="274320"/>
          </a:xfrm>
          <a:prstGeom prst="rect">
            <a:avLst/>
          </a:prstGeom>
          <a:solidFill>
            <a:srgbClr val="FFFFFF"/>
          </a:solidFill>
          <a:ln/>
        </p:spPr>
      </p:sp>
      <p:sp>
        <p:nvSpPr>
          <p:cNvPr id="27" name="Text 25"/>
          <p:cNvSpPr txBox="1"/>
          <p:nvPr/>
        </p:nvSpPr>
        <p:spPr>
          <a:xfrm>
            <a:off x="3383280" y="5097780"/>
            <a:ext cx="1005840" cy="274320"/>
          </a:xfrm>
          <a:prstGeom prst="rect">
            <a:avLst/>
          </a:prstGeom>
          <a:noFill/>
          <a:ln/>
        </p:spPr>
        <p:txBody>
          <a:bodyPr wrap="square" lIns="0" tIns="0" rIns="0" bIns="0" rtlCol="0" anchor="ctr"/>
          <a:lstStyle/>
          <a:p>
            <a:pPr algn="ctr" indent="0" marL="0">
              <a:buNone/>
            </a:pPr>
            <a:r>
              <a:rPr lang="en-US" sz="900" i="1" dirty="0">
                <a:solidFill>
                  <a:srgbClr val="5B7370"/>
                </a:solidFill>
                <a:latin typeface="Calibri" pitchFamily="34" charset="0"/>
                <a:ea typeface="Calibri" pitchFamily="34" charset="-122"/>
                <a:cs typeface="Calibri" pitchFamily="34" charset="-120"/>
              </a:rPr>
              <a:t>supervised by</a:t>
            </a:r>
            <a:endParaRPr lang="en-US" sz="900" dirty="0"/>
          </a:p>
        </p:txBody>
      </p:sp>
      <p:sp>
        <p:nvSpPr>
          <p:cNvPr id="28" name="Shape 26"/>
          <p:cNvSpPr/>
          <p:nvPr/>
        </p:nvSpPr>
        <p:spPr>
          <a:xfrm>
            <a:off x="5120640" y="3246120"/>
            <a:ext cx="2011680" cy="594360"/>
          </a:xfrm>
          <a:prstGeom prst="roundRect">
            <a:avLst>
              <a:gd name="adj" fmla="val 9231"/>
            </a:avLst>
          </a:prstGeom>
          <a:solidFill>
            <a:srgbClr val="02C39A"/>
          </a:solidFill>
          <a:ln w="12700">
            <a:solidFill>
              <a:srgbClr val="013A40"/>
            </a:solidFill>
            <a:prstDash val="solid"/>
          </a:ln>
        </p:spPr>
      </p:sp>
      <p:sp>
        <p:nvSpPr>
          <p:cNvPr id="29" name="Text 27"/>
          <p:cNvSpPr txBox="1"/>
          <p:nvPr/>
        </p:nvSpPr>
        <p:spPr>
          <a:xfrm>
            <a:off x="5120640" y="3246120"/>
            <a:ext cx="2011680" cy="594360"/>
          </a:xfrm>
          <a:prstGeom prst="rect">
            <a:avLst/>
          </a:prstGeom>
          <a:noFill/>
          <a:ln/>
        </p:spPr>
        <p:txBody>
          <a:bodyPr wrap="square" lIns="0" tIns="0" rIns="0" bIns="0" rtlCol="0" anchor="ctr"/>
          <a:lstStyle/>
          <a:p>
            <a:pPr algn="ctr" indent="0" marL="0">
              <a:buNone/>
            </a:pPr>
            <a:r>
              <a:rPr lang="en-US" sz="1300" b="1" dirty="0">
                <a:solidFill>
                  <a:srgbClr val="013A40"/>
                </a:solidFill>
                <a:latin typeface="Calibri" pitchFamily="34" charset="0"/>
                <a:ea typeface="Calibri" pitchFamily="34" charset="-122"/>
                <a:cs typeface="Calibri" pitchFamily="34" charset="-120"/>
              </a:rPr>
              <a:t>STUDENT</a:t>
            </a:r>
            <a:endParaRPr lang="en-US" sz="1300" dirty="0"/>
          </a:p>
        </p:txBody>
      </p:sp>
      <p:sp>
        <p:nvSpPr>
          <p:cNvPr id="30" name="Shape 28"/>
          <p:cNvSpPr/>
          <p:nvPr/>
        </p:nvSpPr>
        <p:spPr>
          <a:xfrm>
            <a:off x="914400" y="2103120"/>
            <a:ext cx="1737360" cy="594360"/>
          </a:xfrm>
          <a:prstGeom prst="roundRect">
            <a:avLst>
              <a:gd name="adj" fmla="val 9231"/>
            </a:avLst>
          </a:prstGeom>
          <a:solidFill>
            <a:srgbClr val="F2F7F6"/>
          </a:solidFill>
          <a:ln w="12700">
            <a:solidFill>
              <a:srgbClr val="013A40"/>
            </a:solidFill>
            <a:prstDash val="solid"/>
          </a:ln>
        </p:spPr>
      </p:sp>
      <p:sp>
        <p:nvSpPr>
          <p:cNvPr id="31" name="Text 29"/>
          <p:cNvSpPr txBox="1"/>
          <p:nvPr/>
        </p:nvSpPr>
        <p:spPr>
          <a:xfrm>
            <a:off x="914400" y="2103120"/>
            <a:ext cx="1737360" cy="594360"/>
          </a:xfrm>
          <a:prstGeom prst="rect">
            <a:avLst/>
          </a:prstGeom>
          <a:noFill/>
          <a:ln/>
        </p:spPr>
        <p:txBody>
          <a:bodyPr wrap="square" lIns="0" tIns="0" rIns="0" bIns="0" rtlCol="0" anchor="ctr"/>
          <a:lstStyle/>
          <a:p>
            <a:pPr algn="ctr" indent="0" marL="0">
              <a:buNone/>
            </a:pPr>
            <a:r>
              <a:rPr lang="en-US" sz="1300" b="1" dirty="0">
                <a:solidFill>
                  <a:srgbClr val="17302E"/>
                </a:solidFill>
                <a:latin typeface="Calibri" pitchFamily="34" charset="0"/>
                <a:ea typeface="Calibri" pitchFamily="34" charset="-122"/>
                <a:cs typeface="Calibri" pitchFamily="34" charset="-120"/>
              </a:rPr>
              <a:t>ROOM</a:t>
            </a:r>
            <a:endParaRPr lang="en-US" sz="1300" dirty="0"/>
          </a:p>
        </p:txBody>
      </p:sp>
      <p:sp>
        <p:nvSpPr>
          <p:cNvPr id="32" name="Shape 30"/>
          <p:cNvSpPr/>
          <p:nvPr/>
        </p:nvSpPr>
        <p:spPr>
          <a:xfrm>
            <a:off x="914400" y="4526280"/>
            <a:ext cx="1737360" cy="594360"/>
          </a:xfrm>
          <a:prstGeom prst="roundRect">
            <a:avLst>
              <a:gd name="adj" fmla="val 9231"/>
            </a:avLst>
          </a:prstGeom>
          <a:solidFill>
            <a:srgbClr val="F2F7F6"/>
          </a:solidFill>
          <a:ln w="12700">
            <a:solidFill>
              <a:srgbClr val="013A40"/>
            </a:solidFill>
            <a:prstDash val="solid"/>
          </a:ln>
        </p:spPr>
      </p:sp>
      <p:sp>
        <p:nvSpPr>
          <p:cNvPr id="33" name="Text 31"/>
          <p:cNvSpPr txBox="1"/>
          <p:nvPr/>
        </p:nvSpPr>
        <p:spPr>
          <a:xfrm>
            <a:off x="914400" y="4526280"/>
            <a:ext cx="1737360" cy="594360"/>
          </a:xfrm>
          <a:prstGeom prst="rect">
            <a:avLst/>
          </a:prstGeom>
          <a:noFill/>
          <a:ln/>
        </p:spPr>
        <p:txBody>
          <a:bodyPr wrap="square" lIns="0" tIns="0" rIns="0" bIns="0" rtlCol="0" anchor="ctr"/>
          <a:lstStyle/>
          <a:p>
            <a:pPr algn="ctr" indent="0" marL="0">
              <a:buNone/>
            </a:pPr>
            <a:r>
              <a:rPr lang="en-US" sz="1300" b="1" dirty="0">
                <a:solidFill>
                  <a:srgbClr val="17302E"/>
                </a:solidFill>
                <a:latin typeface="Calibri" pitchFamily="34" charset="0"/>
                <a:ea typeface="Calibri" pitchFamily="34" charset="-122"/>
                <a:cs typeface="Calibri" pitchFamily="34" charset="-120"/>
              </a:rPr>
              <a:t>HOSTEL / BLOCK</a:t>
            </a:r>
            <a:endParaRPr lang="en-US" sz="1300" dirty="0"/>
          </a:p>
        </p:txBody>
      </p:sp>
      <p:sp>
        <p:nvSpPr>
          <p:cNvPr id="34" name="Shape 32"/>
          <p:cNvSpPr/>
          <p:nvPr/>
        </p:nvSpPr>
        <p:spPr>
          <a:xfrm>
            <a:off x="8869680" y="1691640"/>
            <a:ext cx="1737360" cy="594360"/>
          </a:xfrm>
          <a:prstGeom prst="roundRect">
            <a:avLst>
              <a:gd name="adj" fmla="val 9231"/>
            </a:avLst>
          </a:prstGeom>
          <a:solidFill>
            <a:srgbClr val="F2F7F6"/>
          </a:solidFill>
          <a:ln w="12700">
            <a:solidFill>
              <a:srgbClr val="013A40"/>
            </a:solidFill>
            <a:prstDash val="solid"/>
          </a:ln>
        </p:spPr>
      </p:sp>
      <p:sp>
        <p:nvSpPr>
          <p:cNvPr id="35" name="Text 33"/>
          <p:cNvSpPr txBox="1"/>
          <p:nvPr/>
        </p:nvSpPr>
        <p:spPr>
          <a:xfrm>
            <a:off x="8869680" y="1691640"/>
            <a:ext cx="1737360" cy="594360"/>
          </a:xfrm>
          <a:prstGeom prst="rect">
            <a:avLst/>
          </a:prstGeom>
          <a:noFill/>
          <a:ln/>
        </p:spPr>
        <p:txBody>
          <a:bodyPr wrap="square" lIns="0" tIns="0" rIns="0" bIns="0" rtlCol="0" anchor="ctr"/>
          <a:lstStyle/>
          <a:p>
            <a:pPr algn="ctr" indent="0" marL="0">
              <a:buNone/>
            </a:pPr>
            <a:r>
              <a:rPr lang="en-US" sz="1300" b="1" dirty="0">
                <a:solidFill>
                  <a:srgbClr val="17302E"/>
                </a:solidFill>
                <a:latin typeface="Calibri" pitchFamily="34" charset="0"/>
                <a:ea typeface="Calibri" pitchFamily="34" charset="-122"/>
                <a:cs typeface="Calibri" pitchFamily="34" charset="-120"/>
              </a:rPr>
              <a:t>FEE / PAYMENT</a:t>
            </a:r>
            <a:endParaRPr lang="en-US" sz="1300" dirty="0"/>
          </a:p>
        </p:txBody>
      </p:sp>
      <p:sp>
        <p:nvSpPr>
          <p:cNvPr id="36" name="Shape 34"/>
          <p:cNvSpPr/>
          <p:nvPr/>
        </p:nvSpPr>
        <p:spPr>
          <a:xfrm>
            <a:off x="8869680" y="3246120"/>
            <a:ext cx="1737360" cy="594360"/>
          </a:xfrm>
          <a:prstGeom prst="roundRect">
            <a:avLst>
              <a:gd name="adj" fmla="val 9231"/>
            </a:avLst>
          </a:prstGeom>
          <a:solidFill>
            <a:srgbClr val="F2F7F6"/>
          </a:solidFill>
          <a:ln w="12700">
            <a:solidFill>
              <a:srgbClr val="013A40"/>
            </a:solidFill>
            <a:prstDash val="solid"/>
          </a:ln>
        </p:spPr>
      </p:sp>
      <p:sp>
        <p:nvSpPr>
          <p:cNvPr id="37" name="Text 35"/>
          <p:cNvSpPr txBox="1"/>
          <p:nvPr/>
        </p:nvSpPr>
        <p:spPr>
          <a:xfrm>
            <a:off x="8869680" y="3246120"/>
            <a:ext cx="1737360" cy="594360"/>
          </a:xfrm>
          <a:prstGeom prst="rect">
            <a:avLst/>
          </a:prstGeom>
          <a:noFill/>
          <a:ln/>
        </p:spPr>
        <p:txBody>
          <a:bodyPr wrap="square" lIns="0" tIns="0" rIns="0" bIns="0" rtlCol="0" anchor="ctr"/>
          <a:lstStyle/>
          <a:p>
            <a:pPr algn="ctr" indent="0" marL="0">
              <a:buNone/>
            </a:pPr>
            <a:r>
              <a:rPr lang="en-US" sz="1300" b="1" dirty="0">
                <a:solidFill>
                  <a:srgbClr val="17302E"/>
                </a:solidFill>
                <a:latin typeface="Calibri" pitchFamily="34" charset="0"/>
                <a:ea typeface="Calibri" pitchFamily="34" charset="-122"/>
                <a:cs typeface="Calibri" pitchFamily="34" charset="-120"/>
              </a:rPr>
              <a:t>COMPLAINT</a:t>
            </a:r>
            <a:endParaRPr lang="en-US" sz="1300" dirty="0"/>
          </a:p>
        </p:txBody>
      </p:sp>
      <p:sp>
        <p:nvSpPr>
          <p:cNvPr id="38" name="Shape 36"/>
          <p:cNvSpPr/>
          <p:nvPr/>
        </p:nvSpPr>
        <p:spPr>
          <a:xfrm>
            <a:off x="8869680" y="4800600"/>
            <a:ext cx="1737360" cy="594360"/>
          </a:xfrm>
          <a:prstGeom prst="roundRect">
            <a:avLst>
              <a:gd name="adj" fmla="val 9231"/>
            </a:avLst>
          </a:prstGeom>
          <a:solidFill>
            <a:srgbClr val="F2F7F6"/>
          </a:solidFill>
          <a:ln w="12700">
            <a:solidFill>
              <a:srgbClr val="013A40"/>
            </a:solidFill>
            <a:prstDash val="solid"/>
          </a:ln>
        </p:spPr>
      </p:sp>
      <p:sp>
        <p:nvSpPr>
          <p:cNvPr id="39" name="Text 37"/>
          <p:cNvSpPr txBox="1"/>
          <p:nvPr/>
        </p:nvSpPr>
        <p:spPr>
          <a:xfrm>
            <a:off x="8869680" y="4800600"/>
            <a:ext cx="1737360" cy="594360"/>
          </a:xfrm>
          <a:prstGeom prst="rect">
            <a:avLst/>
          </a:prstGeom>
          <a:noFill/>
          <a:ln/>
        </p:spPr>
        <p:txBody>
          <a:bodyPr wrap="square" lIns="0" tIns="0" rIns="0" bIns="0" rtlCol="0" anchor="ctr"/>
          <a:lstStyle/>
          <a:p>
            <a:pPr algn="ctr" indent="0" marL="0">
              <a:buNone/>
            </a:pPr>
            <a:r>
              <a:rPr lang="en-US" sz="1300" b="1" dirty="0">
                <a:solidFill>
                  <a:srgbClr val="17302E"/>
                </a:solidFill>
                <a:latin typeface="Calibri" pitchFamily="34" charset="0"/>
                <a:ea typeface="Calibri" pitchFamily="34" charset="-122"/>
                <a:cs typeface="Calibri" pitchFamily="34" charset="-120"/>
              </a:rPr>
              <a:t>MESS</a:t>
            </a:r>
            <a:endParaRPr lang="en-US" sz="1300" dirty="0"/>
          </a:p>
        </p:txBody>
      </p:sp>
      <p:sp>
        <p:nvSpPr>
          <p:cNvPr id="40" name="Shape 38"/>
          <p:cNvSpPr/>
          <p:nvPr/>
        </p:nvSpPr>
        <p:spPr>
          <a:xfrm>
            <a:off x="5120640" y="5349240"/>
            <a:ext cx="2011680" cy="594360"/>
          </a:xfrm>
          <a:prstGeom prst="roundRect">
            <a:avLst>
              <a:gd name="adj" fmla="val 9231"/>
            </a:avLst>
          </a:prstGeom>
          <a:solidFill>
            <a:srgbClr val="F2F7F6"/>
          </a:solidFill>
          <a:ln w="12700">
            <a:solidFill>
              <a:srgbClr val="013A40"/>
            </a:solidFill>
            <a:prstDash val="solid"/>
          </a:ln>
        </p:spPr>
      </p:sp>
      <p:sp>
        <p:nvSpPr>
          <p:cNvPr id="41" name="Text 39"/>
          <p:cNvSpPr txBox="1"/>
          <p:nvPr/>
        </p:nvSpPr>
        <p:spPr>
          <a:xfrm>
            <a:off x="5120640" y="5349240"/>
            <a:ext cx="2011680" cy="594360"/>
          </a:xfrm>
          <a:prstGeom prst="rect">
            <a:avLst/>
          </a:prstGeom>
          <a:noFill/>
          <a:ln/>
        </p:spPr>
        <p:txBody>
          <a:bodyPr wrap="square" lIns="0" tIns="0" rIns="0" bIns="0" rtlCol="0" anchor="ctr"/>
          <a:lstStyle/>
          <a:p>
            <a:pPr algn="ctr" indent="0" marL="0">
              <a:buNone/>
            </a:pPr>
            <a:r>
              <a:rPr lang="en-US" sz="1300" b="1" dirty="0">
                <a:solidFill>
                  <a:srgbClr val="17302E"/>
                </a:solidFill>
                <a:latin typeface="Calibri" pitchFamily="34" charset="0"/>
                <a:ea typeface="Calibri" pitchFamily="34" charset="-122"/>
                <a:cs typeface="Calibri" pitchFamily="34" charset="-120"/>
              </a:rPr>
              <a:t>STAFF / WARDEN</a:t>
            </a:r>
            <a:endParaRPr lang="en-US" sz="1300" dirty="0"/>
          </a:p>
        </p:txBody>
      </p:sp>
      <p:sp>
        <p:nvSpPr>
          <p:cNvPr id="42" name="Shape 40"/>
          <p:cNvSpPr/>
          <p:nvPr/>
        </p:nvSpPr>
        <p:spPr>
          <a:xfrm>
            <a:off x="5120640" y="1417320"/>
            <a:ext cx="2011680" cy="594360"/>
          </a:xfrm>
          <a:prstGeom prst="roundRect">
            <a:avLst>
              <a:gd name="adj" fmla="val 9231"/>
            </a:avLst>
          </a:prstGeom>
          <a:solidFill>
            <a:srgbClr val="F2F7F6"/>
          </a:solidFill>
          <a:ln w="12700">
            <a:solidFill>
              <a:srgbClr val="013A40"/>
            </a:solidFill>
            <a:prstDash val="solid"/>
          </a:ln>
        </p:spPr>
      </p:sp>
      <p:sp>
        <p:nvSpPr>
          <p:cNvPr id="43" name="Text 41"/>
          <p:cNvSpPr txBox="1"/>
          <p:nvPr/>
        </p:nvSpPr>
        <p:spPr>
          <a:xfrm>
            <a:off x="5120640" y="1417320"/>
            <a:ext cx="2011680" cy="594360"/>
          </a:xfrm>
          <a:prstGeom prst="rect">
            <a:avLst/>
          </a:prstGeom>
          <a:noFill/>
          <a:ln/>
        </p:spPr>
        <p:txBody>
          <a:bodyPr wrap="square" lIns="0" tIns="0" rIns="0" bIns="0" rtlCol="0" anchor="ctr"/>
          <a:lstStyle/>
          <a:p>
            <a:pPr algn="ctr" indent="0" marL="0">
              <a:buNone/>
            </a:pPr>
            <a:r>
              <a:rPr lang="en-US" sz="1300" b="1" dirty="0">
                <a:solidFill>
                  <a:srgbClr val="17302E"/>
                </a:solidFill>
                <a:latin typeface="Calibri" pitchFamily="34" charset="0"/>
                <a:ea typeface="Calibri" pitchFamily="34" charset="-122"/>
                <a:cs typeface="Calibri" pitchFamily="34" charset="-120"/>
              </a:rPr>
              <a:t>VISITOR</a:t>
            </a:r>
            <a:endParaRPr lang="en-US" sz="1300" dirty="0"/>
          </a:p>
        </p:txBody>
      </p:sp>
      <p:sp>
        <p:nvSpPr>
          <p:cNvPr id="44" name="Text 42"/>
          <p:cNvSpPr/>
          <p:nvPr/>
        </p:nvSpPr>
        <p:spPr>
          <a:xfrm>
            <a:off x="457200" y="6537960"/>
            <a:ext cx="5486400" cy="274320"/>
          </a:xfrm>
          <a:prstGeom prst="rect">
            <a:avLst/>
          </a:prstGeom>
          <a:noFill/>
          <a:ln/>
        </p:spPr>
        <p:txBody>
          <a:bodyPr wrap="square" lIns="0" tIns="0" rIns="0" bIns="0" rtlCol="0" anchor="ctr"/>
          <a:lstStyle/>
          <a:p>
            <a:pPr algn="l" indent="0" marL="0">
              <a:buNone/>
            </a:pPr>
            <a:r>
              <a:rPr lang="en-US" sz="1000" dirty="0">
                <a:solidFill>
                  <a:srgbClr val="5B7370"/>
                </a:solidFill>
                <a:latin typeface="Calibri" pitchFamily="34" charset="0"/>
                <a:ea typeface="Calibri" pitchFamily="34" charset="-122"/>
                <a:cs typeface="Calibri" pitchFamily="34" charset="-120"/>
              </a:rPr>
              <a:t>Hostel Accommodation &amp; Student Services DBMS</a:t>
            </a:r>
            <a:endParaRPr lang="en-US" sz="1000" dirty="0"/>
          </a:p>
        </p:txBody>
      </p:sp>
      <p:sp>
        <p:nvSpPr>
          <p:cNvPr id="45" name="Text 43"/>
          <p:cNvSpPr/>
          <p:nvPr/>
        </p:nvSpPr>
        <p:spPr>
          <a:xfrm>
            <a:off x="11247120" y="6537960"/>
            <a:ext cx="457200" cy="274320"/>
          </a:xfrm>
          <a:prstGeom prst="rect">
            <a:avLst/>
          </a:prstGeom>
          <a:noFill/>
          <a:ln/>
        </p:spPr>
        <p:txBody>
          <a:bodyPr wrap="square" lIns="0" tIns="0" rIns="0" bIns="0" rtlCol="0" anchor="ctr"/>
          <a:lstStyle/>
          <a:p>
            <a:pPr algn="r" indent="0" marL="0">
              <a:buNone/>
            </a:pPr>
            <a:r>
              <a:rPr lang="en-US" sz="1000" dirty="0">
                <a:solidFill>
                  <a:srgbClr val="5B737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2026-08-26T11:19:40Z</dcterms:created>
  <dcterms:modified xsi:type="dcterms:W3CDTF">2026-08-26T11:19:40Z</dcterms:modified>
</cp:coreProperties>
</file>