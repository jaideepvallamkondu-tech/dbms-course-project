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 •  PRESENTATION 2 OF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Accommodation &amp; Student Services Management System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Design, Sample Data &amp; Query Execution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0C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393192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0C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39319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48456" y="393192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0C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39319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Tables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58968" y="39319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C4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58968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names]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RDBMS: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26,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keys, and cardinality for every relationship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606040" y="2386584"/>
            <a:ext cx="2514600" cy="1143000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9292" y="283006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9292" y="283006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allotted 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75454" y="3316986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75454" y="331698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3482" y="2379726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13482" y="237972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1760220" y="2715768"/>
            <a:ext cx="0" cy="1764792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6172" y="347014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6172" y="34701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1348" y="2764871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1348" y="2764871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1348" y="4212001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641348" y="4212001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7086600" y="1975104"/>
            <a:ext cx="1828800" cy="1554480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16952" y="262432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16952" y="262432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0" y="3279953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3279953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31936" y="2005279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31936" y="2005279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7086600" y="3529584"/>
            <a:ext cx="1828800" cy="144841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347398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16952" y="347398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3551661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0" y="3551661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31936" y="3432892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31936" y="34328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3858768"/>
            <a:ext cx="1828800" cy="1225296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16952" y="4343400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16952" y="434340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3859317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0" y="3859317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31936" y="4864059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31936" y="4864059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V="1">
            <a:off x="6103620" y="3858768"/>
            <a:ext cx="0" cy="1536192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19572" y="449884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719572" y="44988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84748" y="3887297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984748" y="3887297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4748" y="5146975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84748" y="5146975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 flipV="1">
            <a:off x="6103620" y="2029968"/>
            <a:ext cx="0" cy="1170432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9572" y="248716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719572" y="248716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84748" y="2025579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984748" y="2025579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4748" y="2985333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984748" y="2985333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06040" y="4809744"/>
            <a:ext cx="2514600" cy="914400"/>
          </a:xfrm>
          <a:prstGeom prst="line">
            <a:avLst/>
          </a:prstGeom>
          <a:noFill/>
          <a:ln w="19050">
            <a:solidFill>
              <a:srgbClr val="5B73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9292" y="5138928"/>
            <a:ext cx="768096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479292" y="513892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of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13482" y="4782312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713482" y="4782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75454" y="5532120"/>
            <a:ext cx="23774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75454" y="55321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120640" y="320040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120640" y="32552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5120640" y="36027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B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student_id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14400" y="20574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4400" y="21122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914400" y="24597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room_id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14400" y="448056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14400" y="453542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HOSTEL_BLOCK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914400" y="48828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block_id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915400" y="16459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915400" y="17007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FEE_PAYMENT</a:t>
            </a:r>
            <a:endParaRPr lang="en-US" sz="1250" dirty="0"/>
          </a:p>
        </p:txBody>
      </p:sp>
      <p:sp>
        <p:nvSpPr>
          <p:cNvPr id="71" name="Text 69"/>
          <p:cNvSpPr txBox="1"/>
          <p:nvPr/>
        </p:nvSpPr>
        <p:spPr>
          <a:xfrm>
            <a:off x="8915400" y="20482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payment_id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915400" y="32004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915400" y="32552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8915400" y="36027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complaint_id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915400" y="475488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915400" y="48097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250" dirty="0"/>
          </a:p>
        </p:txBody>
      </p:sp>
      <p:sp>
        <p:nvSpPr>
          <p:cNvPr id="77" name="Text 75"/>
          <p:cNvSpPr txBox="1"/>
          <p:nvPr/>
        </p:nvSpPr>
        <p:spPr>
          <a:xfrm>
            <a:off x="8915400" y="51572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mess_id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120640" y="539496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120640" y="54498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80" name="Text 78"/>
          <p:cNvSpPr txBox="1"/>
          <p:nvPr/>
        </p:nvSpPr>
        <p:spPr>
          <a:xfrm>
            <a:off x="5120640" y="579729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staff_id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120640" y="137160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F2F7F6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120640" y="14264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250" dirty="0"/>
          </a:p>
        </p:txBody>
      </p:sp>
      <p:sp>
        <p:nvSpPr>
          <p:cNvPr id="83" name="Text 81"/>
          <p:cNvSpPr txBox="1"/>
          <p:nvPr/>
        </p:nvSpPr>
        <p:spPr>
          <a:xfrm>
            <a:off x="5120640" y="177393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visitor_id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 — each table stores one entity, no repeating groups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4944" y="1682496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084832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staff_id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450592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0420" y="155448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6724" y="1682496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Hostel_Block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6724" y="2084832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06724" y="2450592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warden_id → Staff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18504" y="1682496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084832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room_id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450592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block_id → Hostel_Block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83980" y="1554480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0284" y="1682496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0284" y="2084832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30284" y="2450592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room_id →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" y="3300984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Fee_Payment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3703320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406908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→ Student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0420" y="3172968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06724" y="3300984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506724" y="3703320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complaint_id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506724" y="406908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→ Student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172968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18504" y="3300984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18504" y="3703320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mess_id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18504" y="406908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→ Student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83980" y="3172968"/>
            <a:ext cx="262890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30284" y="3300984"/>
            <a:ext cx="2336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30284" y="3703320"/>
            <a:ext cx="2336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visitor_id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30284" y="406908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FF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AFB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→ Student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27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note: Room, Block, and Staff were split into separate tables (rather than repeated on every Student row) to remove transitive and partial dependencies — satisfying 2NF and 3NF.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Filled-in 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Student and Room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1188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Gupta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Iyer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 Singh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Rao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Joshi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498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82880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0584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Filled-in 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Fee_Payment and Complaint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Fee_Payment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498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828800"/>
          <a:ext cx="4114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Plumbing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 — Part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SELECT and multi-table JOIN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Students with pending fees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417320"/>
          </a:xfrm>
          <a:prstGeom prst="roundRect">
            <a:avLst>
              <a:gd name="adj" fmla="val 3871"/>
            </a:avLst>
          </a:prstGeom>
          <a:solidFill>
            <a:srgbClr val="0B20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5029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s.student_id, s.student_name,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f.amount, f.status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 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Fee_Payment f ON s.student_id = f.student_id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f.status = 'Pending';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Iyer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 Joshi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Occupancy — student, room, block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0B20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4187952"/>
            <a:ext cx="50292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s.student_name, r.room_no, b.block_name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 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Room r ON s.room_id = r.room_id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Hostel_Block b ON r.block_id = b.block_id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b.block_name, r.room_no;</a:t>
            </a:r>
            <a:endParaRPr lang="en-US" sz="12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023360"/>
          <a:ext cx="5303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Gupta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Iyer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Mehta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 — Part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with GROUP BY and HAVING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Complaint count by status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0B20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5029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 AS total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Complaint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status;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4: Blocks housing more than 2 students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B20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913632"/>
            <a:ext cx="50292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b.block_name,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COUNT(s.student_id) AS student_count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Hostel_Block 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Room r ON b.block_id = r.block_id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Student s ON s.room_id = r.room_id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b.block_name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COUNT(s.student_id) &gt; 2;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74904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Accommodation &amp; Student Services DBMS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 — Part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modification: UPDATE and verify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5: Mark a pending payment as paid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1600200"/>
          </a:xfrm>
          <a:prstGeom prst="roundRect">
            <a:avLst>
              <a:gd name="adj" fmla="val 3429"/>
            </a:avLst>
          </a:prstGeom>
          <a:solidFill>
            <a:srgbClr val="0B20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84832"/>
            <a:ext cx="50292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Fee_Payment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'Paid', paid_date = '2026-07-20'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payment_id = 2;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payment_id, status, paid_date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5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Fee_Payment WHERE payment_id = 2;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0936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Pending, NULL  →  After: Paid, 2026-07-20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023360"/>
            <a:ext cx="11064240" cy="0"/>
          </a:xfrm>
          <a:prstGeom prst="line">
            <a:avLst/>
          </a:prstGeom>
          <a:noFill/>
          <a:ln w="12700">
            <a:solidFill>
              <a:srgbClr val="0C4A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251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Presentation 3 — full implementation with a working application layer and live end-to-end demo.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2026-09-21T05:01:08Z</dcterms:created>
  <dcterms:modified xsi:type="dcterms:W3CDTF">2026-09-21T05:01:08Z</dcterms:modified>
</cp:coreProperties>
</file>